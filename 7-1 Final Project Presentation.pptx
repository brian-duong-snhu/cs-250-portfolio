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9"/>
  </p:notesMasterIdLst>
  <p:handoutMasterIdLst>
    <p:handoutMasterId r:id="rId20"/>
  </p:handoutMasterIdLst>
  <p:sldIdLst>
    <p:sldId id="257" r:id="rId5"/>
    <p:sldId id="268" r:id="rId6"/>
    <p:sldId id="272" r:id="rId7"/>
    <p:sldId id="276" r:id="rId8"/>
    <p:sldId id="277" r:id="rId9"/>
    <p:sldId id="278" r:id="rId10"/>
    <p:sldId id="279" r:id="rId11"/>
    <p:sldId id="273" r:id="rId12"/>
    <p:sldId id="274" r:id="rId13"/>
    <p:sldId id="275" r:id="rId14"/>
    <p:sldId id="280" r:id="rId15"/>
    <p:sldId id="281" r:id="rId16"/>
    <p:sldId id="271" r:id="rId17"/>
    <p:sldId id="270" r:id="rId18"/>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4404"/>
    <a:srgbClr val="5F6F0F"/>
    <a:srgbClr val="718412"/>
    <a:srgbClr val="65741A"/>
    <a:srgbClr val="70811D"/>
    <a:srgbClr val="7B8D1F"/>
    <a:srgbClr val="839721"/>
    <a:srgbClr val="95AB25"/>
    <a:srgbClr val="BC5500"/>
    <a:srgbClr val="C45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73" autoAdjust="0"/>
    <p:restoredTop sz="94660"/>
  </p:normalViewPr>
  <p:slideViewPr>
    <p:cSldViewPr>
      <p:cViewPr varScale="1">
        <p:scale>
          <a:sx n="102" d="100"/>
          <a:sy n="102" d="100"/>
        </p:scale>
        <p:origin x="138" y="114"/>
      </p:cViewPr>
      <p:guideLst>
        <p:guide orient="horz" pos="2160"/>
        <p:guide pos="3839"/>
      </p:guideLst>
    </p:cSldViewPr>
  </p:slideViewPr>
  <p:notesTextViewPr>
    <p:cViewPr>
      <p:scale>
        <a:sx n="1" d="1"/>
        <a:sy n="1" d="1"/>
      </p:scale>
      <p:origin x="0" y="-510"/>
    </p:cViewPr>
  </p:notesTextViewPr>
  <p:notesViewPr>
    <p:cSldViewPr showGuides="1">
      <p:cViewPr varScale="1">
        <p:scale>
          <a:sx n="63" d="100"/>
          <a:sy n="63" d="100"/>
        </p:scale>
        <p:origin x="2838"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E5B4EDC-59C0-49C7-8ADA-5A781B329E02}" type="datetimeFigureOut">
              <a:rPr lang="en-US"/>
              <a:t>10/17/2026</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429053-DC2A-4342-ADD4-2FD729D91E2C}" type="slidenum">
              <a:rPr/>
              <a:t>‹#›</a:t>
            </a:fld>
            <a:endParaRPr/>
          </a:p>
        </p:txBody>
      </p:sp>
    </p:spTree>
    <p:extLst>
      <p:ext uri="{BB962C8B-B14F-4D97-AF65-F5344CB8AC3E}">
        <p14:creationId xmlns:p14="http://schemas.microsoft.com/office/powerpoint/2010/main" val="42320457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D8D46A-B586-417D-BFBD-8C8FE0AAF762}" type="datetimeFigureOut">
              <a:rPr lang="en-US"/>
              <a:t>10/17/2026</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EBA5BD7-F043-4D1B-AA17-CD412FC534DE}" type="slidenum">
              <a:rPr/>
              <a:t>‹#›</a:t>
            </a:fld>
            <a:endParaRPr/>
          </a:p>
        </p:txBody>
      </p:sp>
    </p:spTree>
    <p:extLst>
      <p:ext uri="{BB962C8B-B14F-4D97-AF65-F5344CB8AC3E}">
        <p14:creationId xmlns:p14="http://schemas.microsoft.com/office/powerpoint/2010/main" val="27670578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attending this meeting. My name is Brian. I will present the main facets of the Scrum-Agile approach, how it contrasts with the traditional Waterfall approach, and which approach would better suit our SNHU Travel application. </a:t>
            </a:r>
          </a:p>
        </p:txBody>
      </p:sp>
      <p:sp>
        <p:nvSpPr>
          <p:cNvPr id="4" name="Slide Number Placeholder 3"/>
          <p:cNvSpPr>
            <a:spLocks noGrp="1"/>
          </p:cNvSpPr>
          <p:nvPr>
            <p:ph type="sldNum" sz="quarter" idx="5"/>
          </p:nvPr>
        </p:nvSpPr>
        <p:spPr/>
        <p:txBody>
          <a:bodyPr/>
          <a:lstStyle/>
          <a:p>
            <a:fld id="{3EBA5BD7-F043-4D1B-AA17-CD412FC534DE}" type="slidenum">
              <a:rPr lang="en-US" smtClean="0"/>
              <a:t>1</a:t>
            </a:fld>
            <a:endParaRPr lang="en-US"/>
          </a:p>
        </p:txBody>
      </p:sp>
    </p:spTree>
    <p:extLst>
      <p:ext uri="{BB962C8B-B14F-4D97-AF65-F5344CB8AC3E}">
        <p14:creationId xmlns:p14="http://schemas.microsoft.com/office/powerpoint/2010/main" val="699376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 high level, we will discuss the roles and phases of the Agile approach and compare it with the Waterfall model. We’ll also discuss the pros and cons of each model. </a:t>
            </a:r>
          </a:p>
        </p:txBody>
      </p:sp>
      <p:sp>
        <p:nvSpPr>
          <p:cNvPr id="4" name="Slide Number Placeholder 3"/>
          <p:cNvSpPr>
            <a:spLocks noGrp="1"/>
          </p:cNvSpPr>
          <p:nvPr>
            <p:ph type="sldNum" sz="quarter" idx="5"/>
          </p:nvPr>
        </p:nvSpPr>
        <p:spPr/>
        <p:txBody>
          <a:bodyPr/>
          <a:lstStyle/>
          <a:p>
            <a:fld id="{3EBA5BD7-F043-4D1B-AA17-CD412FC534DE}" type="slidenum">
              <a:rPr lang="en-US" smtClean="0"/>
              <a:t>2</a:t>
            </a:fld>
            <a:endParaRPr lang="en-US"/>
          </a:p>
        </p:txBody>
      </p:sp>
    </p:spTree>
    <p:extLst>
      <p:ext uri="{BB962C8B-B14F-4D97-AF65-F5344CB8AC3E}">
        <p14:creationId xmlns:p14="http://schemas.microsoft.com/office/powerpoint/2010/main" val="38694452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main roles in an Agile approach are the Product Owner, the Scrum Master, the developer, and the tester, also known as QA.</a:t>
            </a:r>
          </a:p>
        </p:txBody>
      </p:sp>
      <p:sp>
        <p:nvSpPr>
          <p:cNvPr id="4" name="Slide Number Placeholder 3"/>
          <p:cNvSpPr>
            <a:spLocks noGrp="1"/>
          </p:cNvSpPr>
          <p:nvPr>
            <p:ph type="sldNum" sz="quarter" idx="5"/>
          </p:nvPr>
        </p:nvSpPr>
        <p:spPr/>
        <p:txBody>
          <a:bodyPr/>
          <a:lstStyle/>
          <a:p>
            <a:fld id="{3EBA5BD7-F043-4D1B-AA17-CD412FC534DE}" type="slidenum">
              <a:rPr lang="en-US" smtClean="0"/>
              <a:t>3</a:t>
            </a:fld>
            <a:endParaRPr lang="en-US"/>
          </a:p>
        </p:txBody>
      </p:sp>
    </p:spTree>
    <p:extLst>
      <p:ext uri="{BB962C8B-B14F-4D97-AF65-F5344CB8AC3E}">
        <p14:creationId xmlns:p14="http://schemas.microsoft.com/office/powerpoint/2010/main" val="37367133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the name suggest, the product Owner owns a product or feature within the organization. They oversee the implementation of the product or feature and prioritizes the product backlog and project constraints based on feedback from the other team roles. They are the main point of contact with external stakeholders and would relay the requirements and requirement changes back to the team to determine the feasibility of implementing these changes in the same sprint or holding off until the next sprint. </a:t>
            </a:r>
          </a:p>
        </p:txBody>
      </p:sp>
      <p:sp>
        <p:nvSpPr>
          <p:cNvPr id="4" name="Slide Number Placeholder 3"/>
          <p:cNvSpPr>
            <a:spLocks noGrp="1"/>
          </p:cNvSpPr>
          <p:nvPr>
            <p:ph type="sldNum" sz="quarter" idx="5"/>
          </p:nvPr>
        </p:nvSpPr>
        <p:spPr/>
        <p:txBody>
          <a:bodyPr/>
          <a:lstStyle/>
          <a:p>
            <a:fld id="{3EBA5BD7-F043-4D1B-AA17-CD412FC534DE}" type="slidenum">
              <a:rPr lang="en-US" smtClean="0"/>
              <a:t>4</a:t>
            </a:fld>
            <a:endParaRPr lang="en-US"/>
          </a:p>
        </p:txBody>
      </p:sp>
    </p:spTree>
    <p:extLst>
      <p:ext uri="{BB962C8B-B14F-4D97-AF65-F5344CB8AC3E}">
        <p14:creationId xmlns:p14="http://schemas.microsoft.com/office/powerpoint/2010/main" val="34726502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Scrum Master is an expert in the Scrum framework and methodology and ensures that Scrum practices and processes are followed. This includes facilitating Scrum ceremonies such as sprint planning, daily Scrums, and sprint retrospectives. They guide the team during these structured meetings and ensure that any derailments from these meetings are noted and discussed outside of the meetings with the relevant parties. The Scrum Master also helps unblock development and testing efforts by reaching out to the appropriate teams or parties that can help do so. </a:t>
            </a:r>
          </a:p>
        </p:txBody>
      </p:sp>
      <p:sp>
        <p:nvSpPr>
          <p:cNvPr id="4" name="Slide Number Placeholder 3"/>
          <p:cNvSpPr>
            <a:spLocks noGrp="1"/>
          </p:cNvSpPr>
          <p:nvPr>
            <p:ph type="sldNum" sz="quarter" idx="5"/>
          </p:nvPr>
        </p:nvSpPr>
        <p:spPr/>
        <p:txBody>
          <a:bodyPr/>
          <a:lstStyle/>
          <a:p>
            <a:fld id="{3EBA5BD7-F043-4D1B-AA17-CD412FC534DE}" type="slidenum">
              <a:rPr lang="en-US" smtClean="0"/>
              <a:t>5</a:t>
            </a:fld>
            <a:endParaRPr lang="en-US"/>
          </a:p>
        </p:txBody>
      </p:sp>
    </p:spTree>
    <p:extLst>
      <p:ext uri="{BB962C8B-B14F-4D97-AF65-F5344CB8AC3E}">
        <p14:creationId xmlns:p14="http://schemas.microsoft.com/office/powerpoint/2010/main" val="33399728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developer is responsible for building the product features and fixing software bugs. The number of developers on each team vary and will depend on the complexity of the feature and how many requirements need to be addressed for the team in the sprint. They work alongside the Scrum Master and Product Owner to clarify any misunderstandings of the user stories’ acceptance criteria in order to develop and integrate the code. They also contribute to the overall continuous product quality by conducting unit tests and peer reviewing their code before creating a build for the testers to evaluate the user stories’ acceptance criteria</a:t>
            </a:r>
          </a:p>
        </p:txBody>
      </p:sp>
      <p:sp>
        <p:nvSpPr>
          <p:cNvPr id="4" name="Slide Number Placeholder 3"/>
          <p:cNvSpPr>
            <a:spLocks noGrp="1"/>
          </p:cNvSpPr>
          <p:nvPr>
            <p:ph type="sldNum" sz="quarter" idx="5"/>
          </p:nvPr>
        </p:nvSpPr>
        <p:spPr/>
        <p:txBody>
          <a:bodyPr/>
          <a:lstStyle/>
          <a:p>
            <a:fld id="{3EBA5BD7-F043-4D1B-AA17-CD412FC534DE}" type="slidenum">
              <a:rPr lang="en-US" smtClean="0"/>
              <a:t>6</a:t>
            </a:fld>
            <a:endParaRPr lang="en-US"/>
          </a:p>
        </p:txBody>
      </p:sp>
    </p:spTree>
    <p:extLst>
      <p:ext uri="{BB962C8B-B14F-4D97-AF65-F5344CB8AC3E}">
        <p14:creationId xmlns:p14="http://schemas.microsoft.com/office/powerpoint/2010/main" val="18112792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tester is responsible for continuous and concurrent testing throughout the software development lifecycle to catch software bugs early on instead of uncovering them near the sprint’s end date. They also ensure that quality is adhered within the other Agile roles, and that quality is not the sole responsibility of testers. Like developers, the number of testers per team depend on how many requirements are in scope for the sprint and the complexity of the requirements. </a:t>
            </a:r>
          </a:p>
        </p:txBody>
      </p:sp>
      <p:sp>
        <p:nvSpPr>
          <p:cNvPr id="4" name="Slide Number Placeholder 3"/>
          <p:cNvSpPr>
            <a:spLocks noGrp="1"/>
          </p:cNvSpPr>
          <p:nvPr>
            <p:ph type="sldNum" sz="quarter" idx="5"/>
          </p:nvPr>
        </p:nvSpPr>
        <p:spPr/>
        <p:txBody>
          <a:bodyPr/>
          <a:lstStyle/>
          <a:p>
            <a:fld id="{3EBA5BD7-F043-4D1B-AA17-CD412FC534DE}" type="slidenum">
              <a:rPr lang="en-US" smtClean="0"/>
              <a:t>7</a:t>
            </a:fld>
            <a:endParaRPr lang="en-US"/>
          </a:p>
        </p:txBody>
      </p:sp>
    </p:spTree>
    <p:extLst>
      <p:ext uri="{BB962C8B-B14F-4D97-AF65-F5344CB8AC3E}">
        <p14:creationId xmlns:p14="http://schemas.microsoft.com/office/powerpoint/2010/main" val="37453567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phase in the Agile methodology is requirement analysis, during which the needs of the customers is noted and determined to be in scope for the sprint. Next is the design phase, during which the requirements are planned for what needs to be developed, efforts are estimated for development and testing, user stories are created, etc. Next is the development phase, where the actual code is created for the user stories. Next is the testing phase, which the user stories are tested, and regression testing is conducted. Note that while testing is listed as a separate phase, the Agile methodology allows for concurrent testing to occur, therefore testing of the user stories can take place asynchronously. Last is the maintenance phase, where the final software is released into the production environment and for the customer to use it for their own processes. The team would also conduct a review and/or retrospective of what went well, what could be improved, and if there are any processes to be implemented for subsequent sprints. </a:t>
            </a:r>
          </a:p>
        </p:txBody>
      </p:sp>
      <p:sp>
        <p:nvSpPr>
          <p:cNvPr id="4" name="Slide Number Placeholder 3"/>
          <p:cNvSpPr>
            <a:spLocks noGrp="1"/>
          </p:cNvSpPr>
          <p:nvPr>
            <p:ph type="sldNum" sz="quarter" idx="5"/>
          </p:nvPr>
        </p:nvSpPr>
        <p:spPr/>
        <p:txBody>
          <a:bodyPr/>
          <a:lstStyle/>
          <a:p>
            <a:fld id="{3EBA5BD7-F043-4D1B-AA17-CD412FC534DE}" type="slidenum">
              <a:rPr lang="en-US" smtClean="0"/>
              <a:t>8</a:t>
            </a:fld>
            <a:endParaRPr lang="en-US"/>
          </a:p>
        </p:txBody>
      </p:sp>
    </p:spTree>
    <p:extLst>
      <p:ext uri="{BB962C8B-B14F-4D97-AF65-F5344CB8AC3E}">
        <p14:creationId xmlns:p14="http://schemas.microsoft.com/office/powerpoint/2010/main" val="16911464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older Waterfall approach, each phase of the software development lifecycle needs to be completed in sequential order before the next phase can begin. Requirements are fully defined at the beginning instead of constant changes. This can cause issues if the customer wants to change requirements before the software is released since it will likely cause all phases to start from the beginning, resulting in wasted efforts in the completed tasks. Testing only occurs after development is complete instead of continuously throughout each phase. This can be a bottleneck, especially if critical software bugs are found. There is one large, major release, in contrast to the Agile methodology, where smaller releases are conducted in multiple, shorter sprints. </a:t>
            </a:r>
          </a:p>
        </p:txBody>
      </p:sp>
      <p:sp>
        <p:nvSpPr>
          <p:cNvPr id="4" name="Slide Number Placeholder 3"/>
          <p:cNvSpPr>
            <a:spLocks noGrp="1"/>
          </p:cNvSpPr>
          <p:nvPr>
            <p:ph type="sldNum" sz="quarter" idx="5"/>
          </p:nvPr>
        </p:nvSpPr>
        <p:spPr/>
        <p:txBody>
          <a:bodyPr/>
          <a:lstStyle/>
          <a:p>
            <a:fld id="{3EBA5BD7-F043-4D1B-AA17-CD412FC534DE}" type="slidenum">
              <a:rPr lang="en-US" smtClean="0"/>
              <a:t>9</a:t>
            </a:fld>
            <a:endParaRPr lang="en-US"/>
          </a:p>
        </p:txBody>
      </p:sp>
    </p:spTree>
    <p:extLst>
      <p:ext uri="{BB962C8B-B14F-4D97-AF65-F5344CB8AC3E}">
        <p14:creationId xmlns:p14="http://schemas.microsoft.com/office/powerpoint/2010/main" val="36936417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compare the two methodologies, starting with Waterfall. The first pro of Waterfall is that it’s the older of the two, therefore it’s more established. The requirements are more thoroughly defined before the project begins execution. Due to this, Waterfall is more suited for projects that have stricter regulations, such as government projects. The first and most obvious con of Waterfall is that it is less flexible, and any changes in requirements requires the project to start over from the beginning phase. In a similar vein, each phase must be completed before the next phase can start, tying into the inflexibility point. Testing also occurs right before the project nears completion, and due to this, any critical software bugs that are found would likely delay the tentative release date. </a:t>
            </a:r>
          </a:p>
        </p:txBody>
      </p:sp>
      <p:sp>
        <p:nvSpPr>
          <p:cNvPr id="4" name="Slide Number Placeholder 3"/>
          <p:cNvSpPr>
            <a:spLocks noGrp="1"/>
          </p:cNvSpPr>
          <p:nvPr>
            <p:ph type="sldNum" sz="quarter" idx="5"/>
          </p:nvPr>
        </p:nvSpPr>
        <p:spPr/>
        <p:txBody>
          <a:bodyPr/>
          <a:lstStyle/>
          <a:p>
            <a:fld id="{3EBA5BD7-F043-4D1B-AA17-CD412FC534DE}" type="slidenum">
              <a:rPr lang="en-US" smtClean="0"/>
              <a:t>10</a:t>
            </a:fld>
            <a:endParaRPr lang="en-US"/>
          </a:p>
        </p:txBody>
      </p:sp>
    </p:spTree>
    <p:extLst>
      <p:ext uri="{BB962C8B-B14F-4D97-AF65-F5344CB8AC3E}">
        <p14:creationId xmlns:p14="http://schemas.microsoft.com/office/powerpoint/2010/main" val="7869681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we’ll discuss the pros and cons of the Agile methodology. The first pro is that changes to requirements are flexible. Any changes to project requirements can shift fluidly based on customer feedback and requests, and therefore there is less lost effort for tasks that were already completed. Overall, there is stronger communication in the form of Scrum ceremonies such as daily Scrums. Testing occurs throughout the software development lifecycle; therefore, the chances of catching showstopper software bugs are increased early on instead of being a bottleneck near project completion. Product features are also delivered in smaller iterations, allowing subsequent sprints to be flexible in its deliverables. The first con of the Agile methodology is that it requires stakeholder communication throughout the sprint. This can be an issue with external stakeholders, especially if they are unavailable during the team members’ work hours. On the same note, stakeholder feedback will likely cause scope creep. While Agile is more flexible for requirement changes, the changes that the stakeholder propose can potentially derail the release date if the request requires a major effort to deliver. The last con of the Agile methodology is that it requires team members to dedicate time for formal Scrum ceremonies such as daily Scrums and sprint retrospectives. While these allow for better communication, it can take away from development progress, particularly if these meetings run over the allocated time. </a:t>
            </a:r>
          </a:p>
        </p:txBody>
      </p:sp>
      <p:sp>
        <p:nvSpPr>
          <p:cNvPr id="4" name="Slide Number Placeholder 3"/>
          <p:cNvSpPr>
            <a:spLocks noGrp="1"/>
          </p:cNvSpPr>
          <p:nvPr>
            <p:ph type="sldNum" sz="quarter" idx="5"/>
          </p:nvPr>
        </p:nvSpPr>
        <p:spPr/>
        <p:txBody>
          <a:bodyPr/>
          <a:lstStyle/>
          <a:p>
            <a:fld id="{3EBA5BD7-F043-4D1B-AA17-CD412FC534DE}" type="slidenum">
              <a:rPr lang="en-US" smtClean="0"/>
              <a:t>11</a:t>
            </a:fld>
            <a:endParaRPr lang="en-US"/>
          </a:p>
        </p:txBody>
      </p:sp>
    </p:spTree>
    <p:extLst>
      <p:ext uri="{BB962C8B-B14F-4D97-AF65-F5344CB8AC3E}">
        <p14:creationId xmlns:p14="http://schemas.microsoft.com/office/powerpoint/2010/main" val="551699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EA19B-E3EB-4FF2-2AEA-C39220DE8C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754803-EFF2-8FE9-3028-B42924CBBB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80802F-8D1A-F12C-09BD-303D814392D1}"/>
              </a:ext>
            </a:extLst>
          </p:cNvPr>
          <p:cNvSpPr>
            <a:spLocks noGrp="1"/>
          </p:cNvSpPr>
          <p:nvPr>
            <p:ph type="body" idx="1"/>
          </p:nvPr>
        </p:nvSpPr>
        <p:spPr/>
        <p:txBody>
          <a:bodyPr/>
          <a:lstStyle/>
          <a:p>
            <a:r>
              <a:rPr lang="en-US" dirty="0"/>
              <a:t>After reviewing the pros and cons of both the Waterfall and Agile methodologies, my overall pick for the SNHU Travel project is Agile. The biggest factor that led me to this decision is the requirement changes requested by the stakeholders during the development phase. While this is essentially scope creep, using an Agile approach allows for more flexibility to this change request compared to a Waterfall approach. Since Agile software releases are delivered in sprints, any modifications to requirements can be delivered in the current sprint if the request is urgent, and the lower priority requirements can be held off until the next sprint. Other factors are concurrent testing which, like my previous point, allows for software bugs to get caught early on for changes in requirement scope and lessens the impact of discovering showstopper bugs near the release date. Finally, while Scrum ceremonies require team members to take time out of their day, they allow for easier and more feasible opportunities for knowledge transfers. If a concern is raised during the Daily Scrum or sprint retrospective about some tea members lacking a skillset or knowledge about the project, it can be quickly addressed with the appropriate subject matter expert(s) to fill in </a:t>
            </a:r>
            <a:r>
              <a:rPr lang="en-US"/>
              <a:t>the knowledge gap. </a:t>
            </a:r>
            <a:endParaRPr lang="en-US" dirty="0"/>
          </a:p>
        </p:txBody>
      </p:sp>
      <p:sp>
        <p:nvSpPr>
          <p:cNvPr id="4" name="Slide Number Placeholder 3">
            <a:extLst>
              <a:ext uri="{FF2B5EF4-FFF2-40B4-BE49-F238E27FC236}">
                <a16:creationId xmlns:a16="http://schemas.microsoft.com/office/drawing/2014/main" id="{F293F019-1FB8-7149-2F37-14CBFDD10D71}"/>
              </a:ext>
            </a:extLst>
          </p:cNvPr>
          <p:cNvSpPr>
            <a:spLocks noGrp="1"/>
          </p:cNvSpPr>
          <p:nvPr>
            <p:ph type="sldNum" sz="quarter" idx="5"/>
          </p:nvPr>
        </p:nvSpPr>
        <p:spPr/>
        <p:txBody>
          <a:bodyPr/>
          <a:lstStyle/>
          <a:p>
            <a:fld id="{3EBA5BD7-F043-4D1B-AA17-CD412FC534DE}" type="slidenum">
              <a:rPr lang="en-US" smtClean="0"/>
              <a:t>12</a:t>
            </a:fld>
            <a:endParaRPr lang="en-US"/>
          </a:p>
        </p:txBody>
      </p:sp>
    </p:spTree>
    <p:extLst>
      <p:ext uri="{BB962C8B-B14F-4D97-AF65-F5344CB8AC3E}">
        <p14:creationId xmlns:p14="http://schemas.microsoft.com/office/powerpoint/2010/main" val="29726684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scholarly references that I used to put together this presentation. </a:t>
            </a:r>
          </a:p>
        </p:txBody>
      </p:sp>
      <p:sp>
        <p:nvSpPr>
          <p:cNvPr id="4" name="Slide Number Placeholder 3"/>
          <p:cNvSpPr>
            <a:spLocks noGrp="1"/>
          </p:cNvSpPr>
          <p:nvPr>
            <p:ph type="sldNum" sz="quarter" idx="5"/>
          </p:nvPr>
        </p:nvSpPr>
        <p:spPr/>
        <p:txBody>
          <a:bodyPr/>
          <a:lstStyle/>
          <a:p>
            <a:fld id="{3EBA5BD7-F043-4D1B-AA17-CD412FC534DE}" type="slidenum">
              <a:rPr lang="en-US" smtClean="0"/>
              <a:t>13</a:t>
            </a:fld>
            <a:endParaRPr lang="en-US"/>
          </a:p>
        </p:txBody>
      </p:sp>
    </p:spTree>
    <p:extLst>
      <p:ext uri="{BB962C8B-B14F-4D97-AF65-F5344CB8AC3E}">
        <p14:creationId xmlns:p14="http://schemas.microsoft.com/office/powerpoint/2010/main" val="30051743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concludes my presentation. Thank you for attending. If you have any questions, please reach out to me via email, which is in screen here. I will also send out this slide deck to everyone who was invited to this meeting, including those who could not attend. </a:t>
            </a:r>
          </a:p>
        </p:txBody>
      </p:sp>
      <p:sp>
        <p:nvSpPr>
          <p:cNvPr id="4" name="Slide Number Placeholder 3"/>
          <p:cNvSpPr>
            <a:spLocks noGrp="1"/>
          </p:cNvSpPr>
          <p:nvPr>
            <p:ph type="sldNum" sz="quarter" idx="5"/>
          </p:nvPr>
        </p:nvSpPr>
        <p:spPr/>
        <p:txBody>
          <a:bodyPr/>
          <a:lstStyle/>
          <a:p>
            <a:fld id="{3EBA5BD7-F043-4D1B-AA17-CD412FC534DE}" type="slidenum">
              <a:rPr lang="en-US" smtClean="0"/>
              <a:t>14</a:t>
            </a:fld>
            <a:endParaRPr lang="en-US"/>
          </a:p>
        </p:txBody>
      </p:sp>
    </p:spTree>
    <p:extLst>
      <p:ext uri="{BB962C8B-B14F-4D97-AF65-F5344CB8AC3E}">
        <p14:creationId xmlns:p14="http://schemas.microsoft.com/office/powerpoint/2010/main" val="7036846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1" name="diagonals"/>
          <p:cNvGrpSpPr/>
          <p:nvPr/>
        </p:nvGrpSpPr>
        <p:grpSpPr>
          <a:xfrm>
            <a:off x="7516443" y="4145281"/>
            <a:ext cx="4686117" cy="2731407"/>
            <a:chOff x="5638800" y="3108960"/>
            <a:chExt cx="3515503" cy="2048555"/>
          </a:xfrm>
        </p:grpSpPr>
        <p:cxnSp>
          <p:nvCxnSpPr>
            <p:cNvPr id="14" name="Straight Connector 13"/>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grpSp>
        <p:nvGrpSpPr>
          <p:cNvPr id="12" name="bottom lines"/>
          <p:cNvGrpSpPr/>
          <p:nvPr/>
        </p:nvGrpSpPr>
        <p:grpSpPr>
          <a:xfrm>
            <a:off x="-8916" y="6057149"/>
            <a:ext cx="5498726" cy="820207"/>
            <a:chOff x="-6689" y="4553748"/>
            <a:chExt cx="4125119" cy="615155"/>
          </a:xfrm>
        </p:grpSpPr>
        <p:sp>
          <p:nvSpPr>
            <p:cNvPr id="9" name="Freeform 8"/>
            <p:cNvSpPr/>
            <p:nvPr/>
          </p:nvSpPr>
          <p:spPr>
            <a:xfrm rot="16200000">
              <a:off x="1754302" y="2802395"/>
              <a:ext cx="612775" cy="411548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4115481 h 4115481"/>
                <a:gd name="connsiteX1" fmla="*/ 612775 w 612775"/>
                <a:gd name="connsiteY1" fmla="*/ 3180443 h 4115481"/>
                <a:gd name="connsiteX2" fmla="*/ 612775 w 612775"/>
                <a:gd name="connsiteY2" fmla="*/ 0 h 4115481"/>
              </a:gdLst>
              <a:ahLst/>
              <a:cxnLst>
                <a:cxn ang="0">
                  <a:pos x="connsiteX0" y="connsiteY0"/>
                </a:cxn>
                <a:cxn ang="0">
                  <a:pos x="connsiteX1" y="connsiteY1"/>
                </a:cxn>
                <a:cxn ang="0">
                  <a:pos x="connsiteX2" y="connsiteY2"/>
                </a:cxn>
              </a:cxnLst>
              <a:rect l="l" t="t" r="r" b="b"/>
              <a:pathLst>
                <a:path w="612775" h="4115481">
                  <a:moveTo>
                    <a:pt x="0" y="4115481"/>
                  </a:moveTo>
                  <a:lnTo>
                    <a:pt x="612775" y="3180443"/>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0" name="Freeform 9"/>
            <p:cNvSpPr/>
            <p:nvPr/>
          </p:nvSpPr>
          <p:spPr>
            <a:xfrm rot="16200000">
              <a:off x="1604659" y="3152814"/>
              <a:ext cx="410751" cy="3621427"/>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 name="connsiteX0" fmla="*/ 0 w 410751"/>
                <a:gd name="connsiteY0" fmla="*/ 3614170 h 3614170"/>
                <a:gd name="connsiteX1" fmla="*/ 410751 w 410751"/>
                <a:gd name="connsiteY1" fmla="*/ 2990994 h 3614170"/>
                <a:gd name="connsiteX2" fmla="*/ 405947 w 410751"/>
                <a:gd name="connsiteY2" fmla="*/ 0 h 3614170"/>
                <a:gd name="connsiteX0" fmla="*/ 0 w 410751"/>
                <a:gd name="connsiteY0" fmla="*/ 3621427 h 3621427"/>
                <a:gd name="connsiteX1" fmla="*/ 410751 w 410751"/>
                <a:gd name="connsiteY1" fmla="*/ 2998251 h 3621427"/>
                <a:gd name="connsiteX2" fmla="*/ 405947 w 410751"/>
                <a:gd name="connsiteY2" fmla="*/ 0 h 3621427"/>
              </a:gdLst>
              <a:ahLst/>
              <a:cxnLst>
                <a:cxn ang="0">
                  <a:pos x="connsiteX0" y="connsiteY0"/>
                </a:cxn>
                <a:cxn ang="0">
                  <a:pos x="connsiteX1" y="connsiteY1"/>
                </a:cxn>
                <a:cxn ang="0">
                  <a:pos x="connsiteX2" y="connsiteY2"/>
                </a:cxn>
              </a:cxnLst>
              <a:rect l="l" t="t" r="r" b="b"/>
              <a:pathLst>
                <a:path w="410751" h="3621427">
                  <a:moveTo>
                    <a:pt x="0" y="3621427"/>
                  </a:moveTo>
                  <a:lnTo>
                    <a:pt x="410751" y="2998251"/>
                  </a:lnTo>
                  <a:cubicBezTo>
                    <a:pt x="410359" y="2065358"/>
                    <a:pt x="406339" y="932893"/>
                    <a:pt x="405947" y="0"/>
                  </a:cubicBez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1" name="Freeform 10"/>
            <p:cNvSpPr/>
            <p:nvPr/>
          </p:nvSpPr>
          <p:spPr>
            <a:xfrm rot="16200000">
              <a:off x="1462308" y="3453376"/>
              <a:ext cx="241768" cy="31797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 name="connsiteX0" fmla="*/ 0 w 241768"/>
                <a:gd name="connsiteY0" fmla="*/ 3179761 h 3179761"/>
                <a:gd name="connsiteX1" fmla="*/ 238919 w 241768"/>
                <a:gd name="connsiteY1" fmla="*/ 2819370 h 3179761"/>
                <a:gd name="connsiteX2" fmla="*/ 241754 w 241768"/>
                <a:gd name="connsiteY2" fmla="*/ 0 h 3179761"/>
              </a:gdLst>
              <a:ahLst/>
              <a:cxnLst>
                <a:cxn ang="0">
                  <a:pos x="connsiteX0" y="connsiteY0"/>
                </a:cxn>
                <a:cxn ang="0">
                  <a:pos x="connsiteX1" y="connsiteY1"/>
                </a:cxn>
                <a:cxn ang="0">
                  <a:pos x="connsiteX2" y="connsiteY2"/>
                </a:cxn>
              </a:cxnLst>
              <a:rect l="l" t="t" r="r" b="b"/>
              <a:pathLst>
                <a:path w="241768" h="3179761">
                  <a:moveTo>
                    <a:pt x="0" y="3179761"/>
                  </a:moveTo>
                  <a:lnTo>
                    <a:pt x="238919" y="2819370"/>
                  </a:lnTo>
                  <a:cubicBezTo>
                    <a:pt x="238654" y="1947313"/>
                    <a:pt x="242019" y="872057"/>
                    <a:pt x="241754"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grpSp>
      <p:sp>
        <p:nvSpPr>
          <p:cNvPr id="2" name="Title 1"/>
          <p:cNvSpPr>
            <a:spLocks noGrp="1"/>
          </p:cNvSpPr>
          <p:nvPr>
            <p:ph type="ctrTitle"/>
          </p:nvPr>
        </p:nvSpPr>
        <p:spPr>
          <a:xfrm>
            <a:off x="1625176" y="584200"/>
            <a:ext cx="8735325" cy="2000251"/>
          </a:xfrm>
        </p:spPr>
        <p:txBody>
          <a:bodyPr>
            <a:normAutofit/>
          </a:bodyPr>
          <a:lstStyle>
            <a:lvl1pPr>
              <a:defRPr sz="5400"/>
            </a:lvl1pPr>
          </a:lstStyle>
          <a:p>
            <a:r>
              <a:rPr lang="en-US"/>
              <a:t>Click to edit Master title style</a:t>
            </a:r>
            <a:endParaRPr/>
          </a:p>
        </p:txBody>
      </p:sp>
      <p:sp>
        <p:nvSpPr>
          <p:cNvPr id="3" name="Subtitle 2"/>
          <p:cNvSpPr>
            <a:spLocks noGrp="1"/>
          </p:cNvSpPr>
          <p:nvPr>
            <p:ph type="subTitle" idx="1"/>
          </p:nvPr>
        </p:nvSpPr>
        <p:spPr>
          <a:xfrm>
            <a:off x="1625176" y="2616200"/>
            <a:ext cx="8735325" cy="1752600"/>
          </a:xfrm>
        </p:spPr>
        <p:txBody>
          <a:bodyPr>
            <a:normAutofit/>
          </a:bodyPr>
          <a:lstStyle>
            <a:lvl1pPr marL="0" indent="0" algn="l">
              <a:spcBef>
                <a:spcPts val="0"/>
              </a:spcBef>
              <a:buNone/>
              <a:defRPr sz="2800" cap="all" spc="200" baseline="0">
                <a:solidFill>
                  <a:schemeClr val="accent1"/>
                </a:solidFill>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a:p>
        </p:txBody>
      </p:sp>
      <p:sp>
        <p:nvSpPr>
          <p:cNvPr id="22" name="Date Placeholder 21"/>
          <p:cNvSpPr>
            <a:spLocks noGrp="1"/>
          </p:cNvSpPr>
          <p:nvPr>
            <p:ph type="dt" sz="half" idx="10"/>
          </p:nvPr>
        </p:nvSpPr>
        <p:spPr/>
        <p:txBody>
          <a:bodyPr/>
          <a:lstStyle/>
          <a:p>
            <a:fld id="{F0DFD029-FB74-4578-B929-F66AA97659CA}" type="datetimeFigureOut">
              <a:rPr lang="en-US"/>
              <a:t>10/17/2026</a:t>
            </a:fld>
            <a:endParaRPr/>
          </a:p>
        </p:txBody>
      </p:sp>
      <p:sp>
        <p:nvSpPr>
          <p:cNvPr id="23" name="Footer Placeholder 22"/>
          <p:cNvSpPr>
            <a:spLocks noGrp="1"/>
          </p:cNvSpPr>
          <p:nvPr>
            <p:ph type="ftr" sz="quarter" idx="11"/>
          </p:nvPr>
        </p:nvSpPr>
        <p:spPr/>
        <p:txBody>
          <a:bodyPr/>
          <a:lstStyle/>
          <a:p>
            <a:endParaRPr/>
          </a:p>
        </p:txBody>
      </p:sp>
      <p:sp>
        <p:nvSpPr>
          <p:cNvPr id="24" name="Slide Number Placeholder 2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847488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10/17/2026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406769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1" name="diagonals"/>
          <p:cNvGrpSpPr/>
          <p:nvPr/>
        </p:nvGrpSpPr>
        <p:grpSpPr>
          <a:xfrm>
            <a:off x="7516443" y="4145281"/>
            <a:ext cx="4686117" cy="2731407"/>
            <a:chOff x="5638800" y="3108960"/>
            <a:chExt cx="3515503" cy="2048555"/>
          </a:xfrm>
        </p:grpSpPr>
        <p:cxnSp>
          <p:nvCxnSpPr>
            <p:cNvPr id="12" name="Straight Connector 11"/>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sp>
        <p:nvSpPr>
          <p:cNvPr id="2" name="Title 1"/>
          <p:cNvSpPr>
            <a:spLocks noGrp="1"/>
          </p:cNvSpPr>
          <p:nvPr>
            <p:ph type="title"/>
          </p:nvPr>
        </p:nvSpPr>
        <p:spPr>
          <a:xfrm>
            <a:off x="1625177" y="2209801"/>
            <a:ext cx="8938472" cy="2764335"/>
          </a:xfrm>
        </p:spPr>
        <p:txBody>
          <a:bodyPr anchor="b">
            <a:normAutofit/>
          </a:bodyPr>
          <a:lstStyle>
            <a:lvl1pPr algn="l">
              <a:defRPr sz="5400" b="0" cap="none" baseline="0"/>
            </a:lvl1pPr>
          </a:lstStyle>
          <a:p>
            <a:r>
              <a:rPr lang="en-US"/>
              <a:t>Click to edit Master title style</a:t>
            </a:r>
            <a:endParaRPr/>
          </a:p>
        </p:txBody>
      </p:sp>
      <p:sp>
        <p:nvSpPr>
          <p:cNvPr id="3" name="Text Placeholder 2"/>
          <p:cNvSpPr>
            <a:spLocks noGrp="1"/>
          </p:cNvSpPr>
          <p:nvPr>
            <p:ph type="body" idx="1"/>
          </p:nvPr>
        </p:nvSpPr>
        <p:spPr>
          <a:xfrm>
            <a:off x="1625176" y="4951266"/>
            <a:ext cx="7069519" cy="1220933"/>
          </a:xfrm>
        </p:spPr>
        <p:txBody>
          <a:bodyPr anchor="t">
            <a:normAutofit/>
          </a:bodyPr>
          <a:lstStyle>
            <a:lvl1pPr marL="0" indent="0">
              <a:spcBef>
                <a:spcPts val="0"/>
              </a:spcBef>
              <a:buNone/>
              <a:defRPr sz="2800" cap="all" spc="200" baseline="0">
                <a:solidFill>
                  <a:schemeClr val="accent1"/>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DFD029-FB74-4578-B929-F66AA97659CA}" type="datetimeFigureOut">
              <a:rPr lang="en-US"/>
              <a:t>10/17/2026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616330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218883"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500707"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10/17/2026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557647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218883"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p:nvPr>
        </p:nvSpPr>
        <p:spPr>
          <a:xfrm>
            <a:off x="1218883"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496644"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500707"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F0DFD029-FB74-4578-B929-F66AA97659CA}" type="datetimeFigureOut">
              <a:rPr lang="en-US"/>
              <a:t>10/17/2026</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381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F0DFD029-FB74-4578-B929-F66AA97659CA}" type="datetimeFigureOut">
              <a:rPr lang="en-US"/>
              <a:t>10/17/2026</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515229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DFD029-FB74-4578-B929-F66AA97659CA}" type="datetimeFigureOut">
              <a:rPr lang="en-US"/>
              <a:t>10/17/2026</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2172478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3" name="Content Placeholder 2"/>
          <p:cNvSpPr>
            <a:spLocks noGrp="1"/>
          </p:cNvSpPr>
          <p:nvPr>
            <p:ph idx="1"/>
          </p:nvPr>
        </p:nvSpPr>
        <p:spPr>
          <a:xfrm>
            <a:off x="5484971" y="584200"/>
            <a:ext cx="6094413" cy="5588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10/17/2026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618139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5484971" y="584200"/>
            <a:ext cx="6094413" cy="5588000"/>
          </a:xfrm>
          <a:ln w="12700">
            <a:solidFill>
              <a:schemeClr val="bg1">
                <a:lumMod val="75000"/>
                <a:lumOff val="25000"/>
              </a:schemeClr>
            </a:solidFill>
            <a:miter lim="800000"/>
          </a:ln>
        </p:spPr>
        <p:txBody>
          <a:bodyPr>
            <a:normAutofit/>
          </a:bodyPr>
          <a:lstStyle>
            <a:lvl1pPr marL="0" indent="0">
              <a:buNone/>
              <a:defRPr sz="28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5" name="Date Placeholder 4"/>
          <p:cNvSpPr>
            <a:spLocks noGrp="1"/>
          </p:cNvSpPr>
          <p:nvPr>
            <p:ph type="dt" sz="half" idx="10"/>
          </p:nvPr>
        </p:nvSpPr>
        <p:spPr/>
        <p:txBody>
          <a:bodyPr/>
          <a:lstStyle/>
          <a:p>
            <a:fld id="{F0DFD029-FB74-4578-B929-F66AA97659CA}" type="datetimeFigureOut">
              <a:rPr lang="en-US"/>
              <a:t>10/17/2026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422343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10/17/2026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996675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584200"/>
            <a:ext cx="2742486" cy="55880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218882" y="584200"/>
            <a:ext cx="7414869" cy="5588000"/>
          </a:xfrm>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10/17/2026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886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tint val="100000"/>
                <a:shade val="0"/>
                <a:satMod val="100000"/>
              </a:schemeClr>
            </a:gs>
            <a:gs pos="85000">
              <a:schemeClr val="bg2">
                <a:tint val="100000"/>
                <a:shade val="30000"/>
                <a:satMod val="10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grpSp>
        <p:nvGrpSpPr>
          <p:cNvPr id="15" name="left lines"/>
          <p:cNvGrpSpPr/>
          <p:nvPr/>
        </p:nvGrpSpPr>
        <p:grpSpPr>
          <a:xfrm>
            <a:off x="-15870" y="-3174"/>
            <a:ext cx="819993" cy="5229225"/>
            <a:chOff x="-11906" y="-2381"/>
            <a:chExt cx="615155" cy="3921919"/>
          </a:xfrm>
        </p:grpSpPr>
        <p:sp>
          <p:nvSpPr>
            <p:cNvPr id="10" name="Freeform 9"/>
            <p:cNvSpPr/>
            <p:nvPr/>
          </p:nvSpPr>
          <p:spPr>
            <a:xfrm>
              <a:off x="-9526" y="0"/>
              <a:ext cx="612775" cy="3919538"/>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Lst>
              <a:ahLst/>
              <a:cxnLst>
                <a:cxn ang="0">
                  <a:pos x="connsiteX0" y="connsiteY0"/>
                </a:cxn>
                <a:cxn ang="0">
                  <a:pos x="connsiteX1" y="connsiteY1"/>
                </a:cxn>
                <a:cxn ang="0">
                  <a:pos x="connsiteX2" y="connsiteY2"/>
                </a:cxn>
              </a:cxnLst>
              <a:rect l="l" t="t" r="r" b="b"/>
              <a:pathLst>
                <a:path w="612775" h="3919538">
                  <a:moveTo>
                    <a:pt x="0" y="3919538"/>
                  </a:moveTo>
                  <a:lnTo>
                    <a:pt x="612775" y="2984500"/>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Freeform 10"/>
            <p:cNvSpPr/>
            <p:nvPr/>
          </p:nvSpPr>
          <p:spPr>
            <a:xfrm>
              <a:off x="-11906" y="0"/>
              <a:ext cx="410751" cy="3421856"/>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Lst>
              <a:ahLst/>
              <a:cxnLst>
                <a:cxn ang="0">
                  <a:pos x="connsiteX0" y="connsiteY0"/>
                </a:cxn>
                <a:cxn ang="0">
                  <a:pos x="connsiteX1" y="connsiteY1"/>
                </a:cxn>
                <a:cxn ang="0">
                  <a:pos x="connsiteX2" y="connsiteY2"/>
                </a:cxn>
              </a:cxnLst>
              <a:rect l="l" t="t" r="r" b="b"/>
              <a:pathLst>
                <a:path w="410751" h="3421856">
                  <a:moveTo>
                    <a:pt x="0" y="3421856"/>
                  </a:moveTo>
                  <a:lnTo>
                    <a:pt x="410751" y="2798680"/>
                  </a:lnTo>
                  <a:lnTo>
                    <a:pt x="409575" y="0"/>
                  </a:ln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Freeform 13"/>
            <p:cNvSpPr/>
            <p:nvPr/>
          </p:nvSpPr>
          <p:spPr>
            <a:xfrm>
              <a:off x="-7144" y="-2381"/>
              <a:ext cx="238919" cy="29765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Lst>
              <a:ahLst/>
              <a:cxnLst>
                <a:cxn ang="0">
                  <a:pos x="connsiteX0" y="connsiteY0"/>
                </a:cxn>
                <a:cxn ang="0">
                  <a:pos x="connsiteX1" y="connsiteY1"/>
                </a:cxn>
                <a:cxn ang="0">
                  <a:pos x="connsiteX2" y="connsiteY2"/>
                </a:cxn>
              </a:cxnLst>
              <a:rect l="l" t="t" r="r" b="b"/>
              <a:pathLst>
                <a:path w="238919" h="2976561">
                  <a:moveTo>
                    <a:pt x="0" y="2976561"/>
                  </a:moveTo>
                  <a:lnTo>
                    <a:pt x="238919" y="2616170"/>
                  </a:lnTo>
                  <a:cubicBezTo>
                    <a:pt x="238654" y="1744113"/>
                    <a:pt x="238390" y="872057"/>
                    <a:pt x="238125"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Placeholder 1"/>
          <p:cNvSpPr>
            <a:spLocks noGrp="1"/>
          </p:cNvSpPr>
          <p:nvPr>
            <p:ph type="title"/>
          </p:nvPr>
        </p:nvSpPr>
        <p:spPr>
          <a:xfrm>
            <a:off x="1218883" y="274637"/>
            <a:ext cx="10360501" cy="1223963"/>
          </a:xfrm>
          <a:prstGeom prst="rect">
            <a:avLst/>
          </a:prstGeom>
        </p:spPr>
        <p:txBody>
          <a:bodyPr vert="horz" lIns="121899" tIns="60949" rIns="121899" bIns="60949" rtlCol="0" anchor="b">
            <a:normAutofit/>
          </a:bodyPr>
          <a:lstStyle/>
          <a:p>
            <a:r>
              <a:rPr lang="en-US"/>
              <a:t>Click to edit Master title style</a:t>
            </a:r>
            <a:endParaRPr/>
          </a:p>
        </p:txBody>
      </p:sp>
      <p:sp>
        <p:nvSpPr>
          <p:cNvPr id="3" name="Text Placeholder 2"/>
          <p:cNvSpPr>
            <a:spLocks noGrp="1"/>
          </p:cNvSpPr>
          <p:nvPr>
            <p:ph type="body" idx="1"/>
          </p:nvPr>
        </p:nvSpPr>
        <p:spPr>
          <a:xfrm>
            <a:off x="1218883" y="1701797"/>
            <a:ext cx="10360501" cy="4462272"/>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218882" y="6356352"/>
            <a:ext cx="2234618" cy="365125"/>
          </a:xfrm>
          <a:prstGeom prst="rect">
            <a:avLst/>
          </a:prstGeom>
        </p:spPr>
        <p:txBody>
          <a:bodyPr vert="horz" lIns="121899" tIns="60949" rIns="121899" bIns="60949" rtlCol="0" anchor="ctr"/>
          <a:lstStyle>
            <a:lvl1pPr algn="l">
              <a:defRPr sz="1200">
                <a:solidFill>
                  <a:schemeClr val="tx1">
                    <a:tint val="75000"/>
                  </a:schemeClr>
                </a:solidFill>
              </a:defRPr>
            </a:lvl1pPr>
          </a:lstStyle>
          <a:p>
            <a:fld id="{F0DFD029-FB74-4578-B929-F66AA97659CA}" type="datetimeFigureOut">
              <a:rPr lang="en-US"/>
              <a:pPr/>
              <a:t>10/17/2026</a:t>
            </a:fld>
            <a:endParaRPr/>
          </a:p>
        </p:txBody>
      </p:sp>
      <p:sp>
        <p:nvSpPr>
          <p:cNvPr id="5" name="Footer Placeholder 4"/>
          <p:cNvSpPr>
            <a:spLocks noGrp="1"/>
          </p:cNvSpPr>
          <p:nvPr>
            <p:ph type="ftr" sz="quarter" idx="3"/>
          </p:nvPr>
        </p:nvSpPr>
        <p:spPr>
          <a:xfrm>
            <a:off x="3453501" y="6356352"/>
            <a:ext cx="5281824" cy="365125"/>
          </a:xfrm>
          <a:prstGeom prst="rect">
            <a:avLst/>
          </a:prstGeom>
        </p:spPr>
        <p:txBody>
          <a:bodyPr vert="horz" lIns="121899" tIns="60949" rIns="121899" bIns="60949" rtlCol="0" anchor="ctr"/>
          <a:lstStyle>
            <a:lvl1pPr algn="ctr">
              <a:defRPr sz="1200">
                <a:solidFill>
                  <a:schemeClr val="tx1">
                    <a:tint val="75000"/>
                  </a:schemeClr>
                </a:solidFill>
              </a:defRPr>
            </a:lvl1pPr>
          </a:lstStyle>
          <a:p>
            <a:endParaRPr/>
          </a:p>
        </p:txBody>
      </p:sp>
      <p:sp>
        <p:nvSpPr>
          <p:cNvPr id="6" name="Slide Number Placeholder 5"/>
          <p:cNvSpPr>
            <a:spLocks noGrp="1"/>
          </p:cNvSpPr>
          <p:nvPr>
            <p:ph type="sldNum" sz="quarter" idx="4"/>
          </p:nvPr>
        </p:nvSpPr>
        <p:spPr>
          <a:xfrm>
            <a:off x="10563649" y="6356352"/>
            <a:ext cx="1015735" cy="365125"/>
          </a:xfrm>
          <a:prstGeom prst="rect">
            <a:avLst/>
          </a:prstGeom>
        </p:spPr>
        <p:txBody>
          <a:bodyPr vert="horz" lIns="121899" tIns="60949" rIns="121899" bIns="60949" rtlCol="0" anchor="ctr"/>
          <a:lstStyle>
            <a:lvl1pPr algn="r">
              <a:defRPr sz="1200">
                <a:solidFill>
                  <a:schemeClr val="tx1">
                    <a:tint val="75000"/>
                  </a:schemeClr>
                </a:solidFill>
              </a:defRPr>
            </a:lvl1pPr>
          </a:lstStyle>
          <a:p>
            <a:fld id="{C014DD1E-5D91-48A3-AD6D-45FBA980D106}" type="slidenum">
              <a:rPr/>
              <a:pPr/>
              <a:t>‹#›</a:t>
            </a:fld>
            <a:endParaRPr/>
          </a:p>
        </p:txBody>
      </p:sp>
    </p:spTree>
    <p:extLst>
      <p:ext uri="{BB962C8B-B14F-4D97-AF65-F5344CB8AC3E}">
        <p14:creationId xmlns:p14="http://schemas.microsoft.com/office/powerpoint/2010/main" val="139527588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mn-lt"/>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mn-lt"/>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Agile vs. Waterfall approaches</a:t>
            </a:r>
          </a:p>
        </p:txBody>
      </p:sp>
      <p:sp>
        <p:nvSpPr>
          <p:cNvPr id="5" name="Subtitle 4"/>
          <p:cNvSpPr>
            <a:spLocks noGrp="1"/>
          </p:cNvSpPr>
          <p:nvPr>
            <p:ph type="subTitle" idx="1"/>
          </p:nvPr>
        </p:nvSpPr>
        <p:spPr/>
        <p:txBody>
          <a:bodyPr/>
          <a:lstStyle/>
          <a:p>
            <a:r>
              <a:rPr lang="en-US" dirty="0"/>
              <a:t>Brian Duong</a:t>
            </a:r>
          </a:p>
        </p:txBody>
      </p:sp>
    </p:spTree>
    <p:extLst>
      <p:ext uri="{BB962C8B-B14F-4D97-AF65-F5344CB8AC3E}">
        <p14:creationId xmlns:p14="http://schemas.microsoft.com/office/powerpoint/2010/main" val="1332291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Agenda</a:t>
            </a:r>
          </a:p>
        </p:txBody>
      </p:sp>
      <p:sp>
        <p:nvSpPr>
          <p:cNvPr id="14" name="Content Placeholder 13"/>
          <p:cNvSpPr>
            <a:spLocks noGrp="1"/>
          </p:cNvSpPr>
          <p:nvPr>
            <p:ph idx="1"/>
          </p:nvPr>
        </p:nvSpPr>
        <p:spPr/>
        <p:txBody>
          <a:bodyPr/>
          <a:lstStyle/>
          <a:p>
            <a:r>
              <a:rPr lang="en-US" dirty="0"/>
              <a:t>Agile Roles</a:t>
            </a:r>
          </a:p>
          <a:p>
            <a:r>
              <a:rPr lang="en-US" dirty="0"/>
              <a:t>Agile Phases</a:t>
            </a:r>
          </a:p>
          <a:p>
            <a:r>
              <a:rPr lang="en-US" dirty="0"/>
              <a:t>Waterfall Model</a:t>
            </a:r>
          </a:p>
          <a:p>
            <a:r>
              <a:rPr lang="en-US" dirty="0"/>
              <a:t>Waterfall vs. Agile</a:t>
            </a:r>
          </a:p>
        </p:txBody>
      </p:sp>
    </p:spTree>
    <p:extLst>
      <p:ext uri="{BB962C8B-B14F-4D97-AF65-F5344CB8AC3E}">
        <p14:creationId xmlns:p14="http://schemas.microsoft.com/office/powerpoint/2010/main" val="3529114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A5AC3-254B-C963-8834-8B5EC9B33143}"/>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0691E146-9096-BD2C-9A35-67D5263DE073}"/>
              </a:ext>
            </a:extLst>
          </p:cNvPr>
          <p:cNvSpPr>
            <a:spLocks noGrp="1"/>
          </p:cNvSpPr>
          <p:nvPr>
            <p:ph type="title"/>
          </p:nvPr>
        </p:nvSpPr>
        <p:spPr/>
        <p:txBody>
          <a:bodyPr/>
          <a:lstStyle/>
          <a:p>
            <a:r>
              <a:rPr lang="en-US" dirty="0"/>
              <a:t>Agile Roles</a:t>
            </a:r>
          </a:p>
        </p:txBody>
      </p:sp>
      <p:sp>
        <p:nvSpPr>
          <p:cNvPr id="14" name="Content Placeholder 13">
            <a:extLst>
              <a:ext uri="{FF2B5EF4-FFF2-40B4-BE49-F238E27FC236}">
                <a16:creationId xmlns:a16="http://schemas.microsoft.com/office/drawing/2014/main" id="{9055A1B3-F537-9103-E36C-0FC9FB4A7F4E}"/>
              </a:ext>
            </a:extLst>
          </p:cNvPr>
          <p:cNvSpPr>
            <a:spLocks noGrp="1"/>
          </p:cNvSpPr>
          <p:nvPr>
            <p:ph idx="1"/>
          </p:nvPr>
        </p:nvSpPr>
        <p:spPr/>
        <p:txBody>
          <a:bodyPr/>
          <a:lstStyle/>
          <a:p>
            <a:r>
              <a:rPr lang="en-US" dirty="0"/>
              <a:t>Product Owner</a:t>
            </a:r>
          </a:p>
          <a:p>
            <a:r>
              <a:rPr lang="en-US" dirty="0"/>
              <a:t>Scrum Master</a:t>
            </a:r>
          </a:p>
          <a:p>
            <a:r>
              <a:rPr lang="en-US" dirty="0"/>
              <a:t>Developer</a:t>
            </a:r>
          </a:p>
          <a:p>
            <a:r>
              <a:rPr lang="en-US" dirty="0"/>
              <a:t>Tester (QA)</a:t>
            </a:r>
          </a:p>
        </p:txBody>
      </p:sp>
    </p:spTree>
    <p:extLst>
      <p:ext uri="{BB962C8B-B14F-4D97-AF65-F5344CB8AC3E}">
        <p14:creationId xmlns:p14="http://schemas.microsoft.com/office/powerpoint/2010/main" val="4121952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9DB4D-43C3-ACB7-757F-968477BA3B0C}"/>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DE75CE7B-32F0-13E8-7D7C-AA8ACF42D9EA}"/>
              </a:ext>
            </a:extLst>
          </p:cNvPr>
          <p:cNvSpPr>
            <a:spLocks noGrp="1"/>
          </p:cNvSpPr>
          <p:nvPr>
            <p:ph type="title"/>
          </p:nvPr>
        </p:nvSpPr>
        <p:spPr/>
        <p:txBody>
          <a:bodyPr/>
          <a:lstStyle/>
          <a:p>
            <a:r>
              <a:rPr lang="en-US" dirty="0"/>
              <a:t>Agile Roles</a:t>
            </a:r>
          </a:p>
        </p:txBody>
      </p:sp>
      <p:sp>
        <p:nvSpPr>
          <p:cNvPr id="14" name="Content Placeholder 13">
            <a:extLst>
              <a:ext uri="{FF2B5EF4-FFF2-40B4-BE49-F238E27FC236}">
                <a16:creationId xmlns:a16="http://schemas.microsoft.com/office/drawing/2014/main" id="{17A177E4-CB99-61A7-A139-EC7FBF4F335A}"/>
              </a:ext>
            </a:extLst>
          </p:cNvPr>
          <p:cNvSpPr>
            <a:spLocks noGrp="1"/>
          </p:cNvSpPr>
          <p:nvPr>
            <p:ph idx="1"/>
          </p:nvPr>
        </p:nvSpPr>
        <p:spPr/>
        <p:txBody>
          <a:bodyPr/>
          <a:lstStyle/>
          <a:p>
            <a:r>
              <a:rPr lang="en-US" dirty="0"/>
              <a:t>Product Owner</a:t>
            </a:r>
          </a:p>
          <a:p>
            <a:pPr lvl="1"/>
            <a:r>
              <a:rPr lang="en-US" dirty="0"/>
              <a:t>Owns a product or feature</a:t>
            </a:r>
          </a:p>
          <a:p>
            <a:pPr lvl="1"/>
            <a:r>
              <a:rPr lang="en-US" dirty="0"/>
              <a:t>Oversees implementation</a:t>
            </a:r>
          </a:p>
          <a:p>
            <a:pPr lvl="1"/>
            <a:r>
              <a:rPr lang="en-US" dirty="0"/>
              <a:t>Prioritizes product backlog and project constraints</a:t>
            </a:r>
          </a:p>
          <a:p>
            <a:pPr lvl="1"/>
            <a:r>
              <a:rPr lang="en-US" dirty="0"/>
              <a:t>Main point of contact with stakeholders (</a:t>
            </a:r>
            <a:r>
              <a:rPr lang="en-US" dirty="0" err="1"/>
              <a:t>Grebić</a:t>
            </a:r>
            <a:r>
              <a:rPr lang="en-US" dirty="0"/>
              <a:t> &amp; Stojanović, 2021)</a:t>
            </a:r>
          </a:p>
        </p:txBody>
      </p:sp>
    </p:spTree>
    <p:extLst>
      <p:ext uri="{BB962C8B-B14F-4D97-AF65-F5344CB8AC3E}">
        <p14:creationId xmlns:p14="http://schemas.microsoft.com/office/powerpoint/2010/main" val="2753347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EE6EE-908D-D434-4F06-2537E70E6CFE}"/>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D95D8BAD-A626-B579-F58D-830718FCCDF8}"/>
              </a:ext>
            </a:extLst>
          </p:cNvPr>
          <p:cNvSpPr>
            <a:spLocks noGrp="1"/>
          </p:cNvSpPr>
          <p:nvPr>
            <p:ph type="title"/>
          </p:nvPr>
        </p:nvSpPr>
        <p:spPr/>
        <p:txBody>
          <a:bodyPr/>
          <a:lstStyle/>
          <a:p>
            <a:r>
              <a:rPr lang="en-US" dirty="0"/>
              <a:t>Agile Roles</a:t>
            </a:r>
          </a:p>
        </p:txBody>
      </p:sp>
      <p:sp>
        <p:nvSpPr>
          <p:cNvPr id="14" name="Content Placeholder 13">
            <a:extLst>
              <a:ext uri="{FF2B5EF4-FFF2-40B4-BE49-F238E27FC236}">
                <a16:creationId xmlns:a16="http://schemas.microsoft.com/office/drawing/2014/main" id="{02755AD1-703A-4AAC-68B4-C5070B6478B4}"/>
              </a:ext>
            </a:extLst>
          </p:cNvPr>
          <p:cNvSpPr>
            <a:spLocks noGrp="1"/>
          </p:cNvSpPr>
          <p:nvPr>
            <p:ph idx="1"/>
          </p:nvPr>
        </p:nvSpPr>
        <p:spPr/>
        <p:txBody>
          <a:bodyPr/>
          <a:lstStyle/>
          <a:p>
            <a:r>
              <a:rPr lang="en-US" dirty="0"/>
              <a:t>Scrum Master</a:t>
            </a:r>
          </a:p>
          <a:p>
            <a:pPr lvl="1"/>
            <a:r>
              <a:rPr lang="en-US" dirty="0"/>
              <a:t>Ensures Scrum practices and processes are followed</a:t>
            </a:r>
          </a:p>
          <a:p>
            <a:pPr lvl="1"/>
            <a:r>
              <a:rPr lang="en-US" dirty="0"/>
              <a:t>Facilitates Scrum ceremonies (e.g. sprint planning, daily Scrum, retrospectives)</a:t>
            </a:r>
          </a:p>
          <a:p>
            <a:pPr lvl="1"/>
            <a:r>
              <a:rPr lang="en-US" dirty="0"/>
              <a:t>Helps unblock development and testing efforts (</a:t>
            </a:r>
            <a:r>
              <a:rPr lang="en-US" dirty="0" err="1"/>
              <a:t>Grebić</a:t>
            </a:r>
            <a:r>
              <a:rPr lang="en-US" dirty="0"/>
              <a:t> &amp; Stojanović, 2021)</a:t>
            </a:r>
          </a:p>
        </p:txBody>
      </p:sp>
    </p:spTree>
    <p:extLst>
      <p:ext uri="{BB962C8B-B14F-4D97-AF65-F5344CB8AC3E}">
        <p14:creationId xmlns:p14="http://schemas.microsoft.com/office/powerpoint/2010/main" val="2598713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53E32-0FBD-1603-5FD8-CED1EA24BADE}"/>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75FF2C3A-C6B0-10EB-7E2E-1091B31D19A4}"/>
              </a:ext>
            </a:extLst>
          </p:cNvPr>
          <p:cNvSpPr>
            <a:spLocks noGrp="1"/>
          </p:cNvSpPr>
          <p:nvPr>
            <p:ph type="title"/>
          </p:nvPr>
        </p:nvSpPr>
        <p:spPr/>
        <p:txBody>
          <a:bodyPr/>
          <a:lstStyle/>
          <a:p>
            <a:r>
              <a:rPr lang="en-US" dirty="0"/>
              <a:t>Agile Roles</a:t>
            </a:r>
          </a:p>
        </p:txBody>
      </p:sp>
      <p:sp>
        <p:nvSpPr>
          <p:cNvPr id="14" name="Content Placeholder 13">
            <a:extLst>
              <a:ext uri="{FF2B5EF4-FFF2-40B4-BE49-F238E27FC236}">
                <a16:creationId xmlns:a16="http://schemas.microsoft.com/office/drawing/2014/main" id="{4B7477C0-7160-1422-8CB4-66C0D5E91477}"/>
              </a:ext>
            </a:extLst>
          </p:cNvPr>
          <p:cNvSpPr>
            <a:spLocks noGrp="1"/>
          </p:cNvSpPr>
          <p:nvPr>
            <p:ph idx="1"/>
          </p:nvPr>
        </p:nvSpPr>
        <p:spPr/>
        <p:txBody>
          <a:bodyPr/>
          <a:lstStyle/>
          <a:p>
            <a:r>
              <a:rPr lang="en-US" dirty="0"/>
              <a:t>Developer</a:t>
            </a:r>
          </a:p>
          <a:p>
            <a:pPr lvl="1"/>
            <a:r>
              <a:rPr lang="en-US" dirty="0"/>
              <a:t>Builds product features and fixes software bugs</a:t>
            </a:r>
          </a:p>
          <a:p>
            <a:pPr lvl="1"/>
            <a:r>
              <a:rPr lang="en-US" dirty="0"/>
              <a:t>Works alongside the Scrum Master and Product Owner to develop and integrate code for user stories (</a:t>
            </a:r>
            <a:r>
              <a:rPr lang="en-US" dirty="0" err="1"/>
              <a:t>Grebić</a:t>
            </a:r>
            <a:r>
              <a:rPr lang="en-US" dirty="0"/>
              <a:t> &amp; Stojanović, 2021)</a:t>
            </a:r>
          </a:p>
          <a:p>
            <a:pPr lvl="1"/>
            <a:r>
              <a:rPr lang="en-US" dirty="0"/>
              <a:t>Contributes to product quality by conducting unit tests and code peer reviews</a:t>
            </a:r>
          </a:p>
        </p:txBody>
      </p:sp>
    </p:spTree>
    <p:extLst>
      <p:ext uri="{BB962C8B-B14F-4D97-AF65-F5344CB8AC3E}">
        <p14:creationId xmlns:p14="http://schemas.microsoft.com/office/powerpoint/2010/main" val="3559139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236B7-9C69-8A39-C7EF-C8B735FD4342}"/>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36B70CEB-6102-EAAE-FC6F-4F458B4BE745}"/>
              </a:ext>
            </a:extLst>
          </p:cNvPr>
          <p:cNvSpPr>
            <a:spLocks noGrp="1"/>
          </p:cNvSpPr>
          <p:nvPr>
            <p:ph type="title"/>
          </p:nvPr>
        </p:nvSpPr>
        <p:spPr/>
        <p:txBody>
          <a:bodyPr/>
          <a:lstStyle/>
          <a:p>
            <a:r>
              <a:rPr lang="en-US" dirty="0"/>
              <a:t>Agile Roles</a:t>
            </a:r>
          </a:p>
        </p:txBody>
      </p:sp>
      <p:sp>
        <p:nvSpPr>
          <p:cNvPr id="14" name="Content Placeholder 13">
            <a:extLst>
              <a:ext uri="{FF2B5EF4-FFF2-40B4-BE49-F238E27FC236}">
                <a16:creationId xmlns:a16="http://schemas.microsoft.com/office/drawing/2014/main" id="{5D6F3E1C-0DD5-E31A-767E-875E62589A81}"/>
              </a:ext>
            </a:extLst>
          </p:cNvPr>
          <p:cNvSpPr>
            <a:spLocks noGrp="1"/>
          </p:cNvSpPr>
          <p:nvPr>
            <p:ph idx="1"/>
          </p:nvPr>
        </p:nvSpPr>
        <p:spPr/>
        <p:txBody>
          <a:bodyPr/>
          <a:lstStyle/>
          <a:p>
            <a:r>
              <a:rPr lang="en-US" dirty="0"/>
              <a:t>Tester (QA)</a:t>
            </a:r>
          </a:p>
          <a:p>
            <a:pPr lvl="1"/>
            <a:r>
              <a:rPr lang="en-US" dirty="0"/>
              <a:t>Continuous and concurrent testing throughout the software development lifecycle</a:t>
            </a:r>
          </a:p>
          <a:p>
            <a:pPr lvl="1"/>
            <a:r>
              <a:rPr lang="en-US" dirty="0"/>
              <a:t>Ensures quality within the various Agile roles (</a:t>
            </a:r>
            <a:r>
              <a:rPr lang="en-US" dirty="0" err="1"/>
              <a:t>Najihi</a:t>
            </a:r>
            <a:r>
              <a:rPr lang="en-US" dirty="0"/>
              <a:t> et al., 2022)</a:t>
            </a:r>
          </a:p>
          <a:p>
            <a:pPr lvl="1"/>
            <a:endParaRPr lang="en-US" dirty="0"/>
          </a:p>
        </p:txBody>
      </p:sp>
    </p:spTree>
    <p:extLst>
      <p:ext uri="{BB962C8B-B14F-4D97-AF65-F5344CB8AC3E}">
        <p14:creationId xmlns:p14="http://schemas.microsoft.com/office/powerpoint/2010/main" val="3794474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7F0C8-1DC8-A7EA-60BE-64FEA1135F84}"/>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6F6B6971-C581-2D32-0A38-7F6D1EBB03AB}"/>
              </a:ext>
            </a:extLst>
          </p:cNvPr>
          <p:cNvSpPr>
            <a:spLocks noGrp="1"/>
          </p:cNvSpPr>
          <p:nvPr>
            <p:ph type="title"/>
          </p:nvPr>
        </p:nvSpPr>
        <p:spPr/>
        <p:txBody>
          <a:bodyPr/>
          <a:lstStyle/>
          <a:p>
            <a:r>
              <a:rPr lang="en-US" dirty="0"/>
              <a:t>Agile Phases</a:t>
            </a:r>
          </a:p>
        </p:txBody>
      </p:sp>
      <p:sp>
        <p:nvSpPr>
          <p:cNvPr id="14" name="Content Placeholder 13">
            <a:extLst>
              <a:ext uri="{FF2B5EF4-FFF2-40B4-BE49-F238E27FC236}">
                <a16:creationId xmlns:a16="http://schemas.microsoft.com/office/drawing/2014/main" id="{A3D881AB-0A3B-1F8B-03E9-306C733D3D76}"/>
              </a:ext>
            </a:extLst>
          </p:cNvPr>
          <p:cNvSpPr>
            <a:spLocks noGrp="1"/>
          </p:cNvSpPr>
          <p:nvPr>
            <p:ph idx="1"/>
          </p:nvPr>
        </p:nvSpPr>
        <p:spPr/>
        <p:txBody>
          <a:bodyPr/>
          <a:lstStyle/>
          <a:p>
            <a:r>
              <a:rPr lang="en-US" dirty="0"/>
              <a:t>Requirement Analysis</a:t>
            </a:r>
          </a:p>
          <a:p>
            <a:r>
              <a:rPr lang="en-US" dirty="0"/>
              <a:t>Design</a:t>
            </a:r>
          </a:p>
          <a:p>
            <a:r>
              <a:rPr lang="en-US" dirty="0"/>
              <a:t>Development</a:t>
            </a:r>
          </a:p>
          <a:p>
            <a:r>
              <a:rPr lang="en-US" dirty="0"/>
              <a:t>Testing</a:t>
            </a:r>
          </a:p>
          <a:p>
            <a:r>
              <a:rPr lang="en-US" dirty="0"/>
              <a:t>Maintenance (Krishna &amp; Gopinath, 2024)</a:t>
            </a:r>
          </a:p>
          <a:p>
            <a:pPr lvl="1"/>
            <a:r>
              <a:rPr lang="en-US" dirty="0"/>
              <a:t>Review/retrospective</a:t>
            </a:r>
          </a:p>
        </p:txBody>
      </p:sp>
    </p:spTree>
    <p:extLst>
      <p:ext uri="{BB962C8B-B14F-4D97-AF65-F5344CB8AC3E}">
        <p14:creationId xmlns:p14="http://schemas.microsoft.com/office/powerpoint/2010/main" val="2183924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33CA6-3FD3-1600-A1E4-2BE44A36E721}"/>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18F034A8-6DB8-2A44-C9CC-8D418DD64E05}"/>
              </a:ext>
            </a:extLst>
          </p:cNvPr>
          <p:cNvSpPr>
            <a:spLocks noGrp="1"/>
          </p:cNvSpPr>
          <p:nvPr>
            <p:ph type="title"/>
          </p:nvPr>
        </p:nvSpPr>
        <p:spPr/>
        <p:txBody>
          <a:bodyPr/>
          <a:lstStyle/>
          <a:p>
            <a:r>
              <a:rPr lang="en-US" dirty="0"/>
              <a:t>Waterfall Model</a:t>
            </a:r>
          </a:p>
        </p:txBody>
      </p:sp>
      <p:sp>
        <p:nvSpPr>
          <p:cNvPr id="14" name="Content Placeholder 13">
            <a:extLst>
              <a:ext uri="{FF2B5EF4-FFF2-40B4-BE49-F238E27FC236}">
                <a16:creationId xmlns:a16="http://schemas.microsoft.com/office/drawing/2014/main" id="{AE9059AF-3455-3B1A-C6B6-E94A57FC2971}"/>
              </a:ext>
            </a:extLst>
          </p:cNvPr>
          <p:cNvSpPr>
            <a:spLocks noGrp="1"/>
          </p:cNvSpPr>
          <p:nvPr>
            <p:ph idx="1"/>
          </p:nvPr>
        </p:nvSpPr>
        <p:spPr/>
        <p:txBody>
          <a:bodyPr/>
          <a:lstStyle/>
          <a:p>
            <a:r>
              <a:rPr lang="en-US" dirty="0"/>
              <a:t>Each phase needs to be completed in sequential order</a:t>
            </a:r>
          </a:p>
          <a:p>
            <a:r>
              <a:rPr lang="en-US" dirty="0"/>
              <a:t>Requirements are defined in full during planning</a:t>
            </a:r>
          </a:p>
          <a:p>
            <a:pPr lvl="1"/>
            <a:r>
              <a:rPr lang="en-US" dirty="0"/>
              <a:t>Inflexible to changing requirements mid-release</a:t>
            </a:r>
          </a:p>
          <a:p>
            <a:r>
              <a:rPr lang="en-US" dirty="0"/>
              <a:t>Testing only occurs at the end of development</a:t>
            </a:r>
          </a:p>
          <a:p>
            <a:r>
              <a:rPr lang="en-US" dirty="0"/>
              <a:t>One large, major release (Mishra &amp; Alzoubi, 2023)</a:t>
            </a:r>
          </a:p>
        </p:txBody>
      </p:sp>
    </p:spTree>
    <p:extLst>
      <p:ext uri="{BB962C8B-B14F-4D97-AF65-F5344CB8AC3E}">
        <p14:creationId xmlns:p14="http://schemas.microsoft.com/office/powerpoint/2010/main" val="4249505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3FB94-9793-2F39-7964-F12C1DAE09CD}"/>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4E6E9DAA-3B0B-3E86-547D-C480EA705AA9}"/>
              </a:ext>
            </a:extLst>
          </p:cNvPr>
          <p:cNvSpPr>
            <a:spLocks noGrp="1"/>
          </p:cNvSpPr>
          <p:nvPr>
            <p:ph type="title"/>
          </p:nvPr>
        </p:nvSpPr>
        <p:spPr/>
        <p:txBody>
          <a:bodyPr/>
          <a:lstStyle/>
          <a:p>
            <a:r>
              <a:rPr lang="en-US" dirty="0"/>
              <a:t>Waterfall vs. Agile</a:t>
            </a:r>
          </a:p>
        </p:txBody>
      </p:sp>
      <p:sp>
        <p:nvSpPr>
          <p:cNvPr id="14" name="Content Placeholder 13">
            <a:extLst>
              <a:ext uri="{FF2B5EF4-FFF2-40B4-BE49-F238E27FC236}">
                <a16:creationId xmlns:a16="http://schemas.microsoft.com/office/drawing/2014/main" id="{8C497ECC-0947-DAEA-E41A-ACCE9D73C433}"/>
              </a:ext>
            </a:extLst>
          </p:cNvPr>
          <p:cNvSpPr>
            <a:spLocks noGrp="1"/>
          </p:cNvSpPr>
          <p:nvPr>
            <p:ph idx="1"/>
          </p:nvPr>
        </p:nvSpPr>
        <p:spPr/>
        <p:txBody>
          <a:bodyPr/>
          <a:lstStyle/>
          <a:p>
            <a:r>
              <a:rPr lang="en-US" dirty="0"/>
              <a:t>Waterfall</a:t>
            </a:r>
          </a:p>
          <a:p>
            <a:pPr lvl="1"/>
            <a:r>
              <a:rPr lang="en-US" dirty="0"/>
              <a:t>Pros</a:t>
            </a:r>
          </a:p>
          <a:p>
            <a:pPr lvl="2"/>
            <a:r>
              <a:rPr lang="en-US" dirty="0"/>
              <a:t>Older methodology, more established</a:t>
            </a:r>
          </a:p>
          <a:p>
            <a:pPr lvl="2"/>
            <a:r>
              <a:rPr lang="en-US" dirty="0"/>
              <a:t>Thorough documentation for requirements</a:t>
            </a:r>
          </a:p>
          <a:p>
            <a:pPr lvl="2"/>
            <a:r>
              <a:rPr lang="en-US" dirty="0"/>
              <a:t>Better suited for stricter regulated projects (e.g. government)</a:t>
            </a:r>
          </a:p>
          <a:p>
            <a:pPr lvl="1"/>
            <a:r>
              <a:rPr lang="en-US" dirty="0"/>
              <a:t>Cons</a:t>
            </a:r>
          </a:p>
          <a:p>
            <a:pPr lvl="2"/>
            <a:r>
              <a:rPr lang="en-US" dirty="0"/>
              <a:t>Less flexible</a:t>
            </a:r>
          </a:p>
          <a:p>
            <a:pPr lvl="2"/>
            <a:r>
              <a:rPr lang="en-US" dirty="0"/>
              <a:t>Each phase must be completed before the next phase can start</a:t>
            </a:r>
          </a:p>
          <a:p>
            <a:pPr lvl="2"/>
            <a:r>
              <a:rPr lang="en-US" dirty="0"/>
              <a:t>Testing occurs towards the end (Mishra &amp; Alzoubi, 2023)</a:t>
            </a:r>
          </a:p>
        </p:txBody>
      </p:sp>
    </p:spTree>
    <p:extLst>
      <p:ext uri="{BB962C8B-B14F-4D97-AF65-F5344CB8AC3E}">
        <p14:creationId xmlns:p14="http://schemas.microsoft.com/office/powerpoint/2010/main" val="388905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01797-8F1F-9720-1A02-184A58D0706E}"/>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6C3DD525-998A-F0CA-0559-8A0873D4A34C}"/>
              </a:ext>
            </a:extLst>
          </p:cNvPr>
          <p:cNvSpPr>
            <a:spLocks noGrp="1"/>
          </p:cNvSpPr>
          <p:nvPr>
            <p:ph type="title"/>
          </p:nvPr>
        </p:nvSpPr>
        <p:spPr/>
        <p:txBody>
          <a:bodyPr/>
          <a:lstStyle/>
          <a:p>
            <a:r>
              <a:rPr lang="en-US" dirty="0"/>
              <a:t>Waterfall vs. Agile</a:t>
            </a:r>
          </a:p>
        </p:txBody>
      </p:sp>
      <p:sp>
        <p:nvSpPr>
          <p:cNvPr id="14" name="Content Placeholder 13">
            <a:extLst>
              <a:ext uri="{FF2B5EF4-FFF2-40B4-BE49-F238E27FC236}">
                <a16:creationId xmlns:a16="http://schemas.microsoft.com/office/drawing/2014/main" id="{709F9A0C-AA88-80C6-A5FE-BB6EA1FFDEE4}"/>
              </a:ext>
            </a:extLst>
          </p:cNvPr>
          <p:cNvSpPr>
            <a:spLocks noGrp="1"/>
          </p:cNvSpPr>
          <p:nvPr>
            <p:ph idx="1"/>
          </p:nvPr>
        </p:nvSpPr>
        <p:spPr/>
        <p:txBody>
          <a:bodyPr>
            <a:normAutofit lnSpcReduction="10000"/>
          </a:bodyPr>
          <a:lstStyle/>
          <a:p>
            <a:r>
              <a:rPr lang="en-US" dirty="0"/>
              <a:t>Agile</a:t>
            </a:r>
          </a:p>
          <a:p>
            <a:pPr lvl="1"/>
            <a:r>
              <a:rPr lang="en-US" dirty="0"/>
              <a:t>Pros</a:t>
            </a:r>
          </a:p>
          <a:p>
            <a:pPr lvl="2"/>
            <a:r>
              <a:rPr lang="en-US" dirty="0"/>
              <a:t>Changes to requirements are flexible</a:t>
            </a:r>
          </a:p>
          <a:p>
            <a:pPr lvl="2"/>
            <a:r>
              <a:rPr lang="en-US" dirty="0"/>
              <a:t>Project requirements can shift fluidly based on customer feedback and requests</a:t>
            </a:r>
          </a:p>
          <a:p>
            <a:pPr lvl="2"/>
            <a:r>
              <a:rPr lang="en-US" dirty="0"/>
              <a:t>Stronger communication</a:t>
            </a:r>
          </a:p>
          <a:p>
            <a:pPr lvl="2"/>
            <a:r>
              <a:rPr lang="en-US" dirty="0"/>
              <a:t>Testing occurs throughout the software development lifecycle</a:t>
            </a:r>
          </a:p>
          <a:p>
            <a:pPr lvl="2"/>
            <a:r>
              <a:rPr lang="en-US" dirty="0"/>
              <a:t>Product features delivered in smaller iterations</a:t>
            </a:r>
          </a:p>
          <a:p>
            <a:pPr lvl="1"/>
            <a:r>
              <a:rPr lang="en-US" dirty="0"/>
              <a:t>Cons</a:t>
            </a:r>
          </a:p>
          <a:p>
            <a:pPr lvl="2"/>
            <a:r>
              <a:rPr lang="en-US" dirty="0"/>
              <a:t>Requires stakeholder communication throughout the sprint</a:t>
            </a:r>
          </a:p>
          <a:p>
            <a:pPr lvl="2"/>
            <a:r>
              <a:rPr lang="en-US" dirty="0"/>
              <a:t>Stakeholder feedback causes scope creep</a:t>
            </a:r>
          </a:p>
          <a:p>
            <a:pPr lvl="2"/>
            <a:r>
              <a:rPr lang="en-US" dirty="0"/>
              <a:t>Requires team members to dedicate time for formal Scrum ceremonies (Mishra &amp; Alzoubi, 2023)</a:t>
            </a:r>
          </a:p>
        </p:txBody>
      </p:sp>
    </p:spTree>
    <p:extLst>
      <p:ext uri="{BB962C8B-B14F-4D97-AF65-F5344CB8AC3E}">
        <p14:creationId xmlns:p14="http://schemas.microsoft.com/office/powerpoint/2010/main" val="2548791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17F30-C964-7A9B-AA04-79DBBE23F2AB}"/>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CBE8D91A-D6FB-D4A2-C1D3-14EEB1512914}"/>
              </a:ext>
            </a:extLst>
          </p:cNvPr>
          <p:cNvSpPr>
            <a:spLocks noGrp="1"/>
          </p:cNvSpPr>
          <p:nvPr>
            <p:ph type="title"/>
          </p:nvPr>
        </p:nvSpPr>
        <p:spPr/>
        <p:txBody>
          <a:bodyPr/>
          <a:lstStyle/>
          <a:p>
            <a:r>
              <a:rPr lang="en-US" dirty="0"/>
              <a:t>Waterfall vs. Agile - Discussion</a:t>
            </a:r>
          </a:p>
        </p:txBody>
      </p:sp>
      <p:sp>
        <p:nvSpPr>
          <p:cNvPr id="14" name="Content Placeholder 13">
            <a:extLst>
              <a:ext uri="{FF2B5EF4-FFF2-40B4-BE49-F238E27FC236}">
                <a16:creationId xmlns:a16="http://schemas.microsoft.com/office/drawing/2014/main" id="{D1268C9C-C975-047D-F431-53D263A59583}"/>
              </a:ext>
            </a:extLst>
          </p:cNvPr>
          <p:cNvSpPr>
            <a:spLocks noGrp="1"/>
          </p:cNvSpPr>
          <p:nvPr>
            <p:ph idx="1"/>
          </p:nvPr>
        </p:nvSpPr>
        <p:spPr/>
        <p:txBody>
          <a:bodyPr/>
          <a:lstStyle/>
          <a:p>
            <a:r>
              <a:rPr lang="en-US" dirty="0"/>
              <a:t>Overall pick – Agile</a:t>
            </a:r>
          </a:p>
          <a:p>
            <a:r>
              <a:rPr lang="en-US" dirty="0"/>
              <a:t>Factors for choosing Agile</a:t>
            </a:r>
          </a:p>
          <a:p>
            <a:pPr lvl="1"/>
            <a:r>
              <a:rPr lang="en-US" dirty="0"/>
              <a:t>Changes to requirements</a:t>
            </a:r>
          </a:p>
          <a:p>
            <a:pPr lvl="2"/>
            <a:r>
              <a:rPr lang="en-US" dirty="0"/>
              <a:t>Releases delivered in sprints</a:t>
            </a:r>
          </a:p>
          <a:p>
            <a:pPr lvl="1"/>
            <a:r>
              <a:rPr lang="en-US" dirty="0"/>
              <a:t>Concurrent testing</a:t>
            </a:r>
          </a:p>
          <a:p>
            <a:pPr lvl="1"/>
            <a:r>
              <a:rPr lang="en-US" dirty="0"/>
              <a:t>Knowledge transfer more feasible with Scrum ceremonies</a:t>
            </a:r>
          </a:p>
          <a:p>
            <a:pPr lvl="1"/>
            <a:endParaRPr lang="en-US" dirty="0"/>
          </a:p>
        </p:txBody>
      </p:sp>
    </p:spTree>
    <p:extLst>
      <p:ext uri="{BB962C8B-B14F-4D97-AF65-F5344CB8AC3E}">
        <p14:creationId xmlns:p14="http://schemas.microsoft.com/office/powerpoint/2010/main" val="396566516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327D5-4CBA-8DE2-8689-C0CD68C565EC}"/>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FCFF69BE-E838-5ABD-9154-CE401C89FE4F}"/>
              </a:ext>
            </a:extLst>
          </p:cNvPr>
          <p:cNvSpPr>
            <a:spLocks noGrp="1"/>
          </p:cNvSpPr>
          <p:nvPr>
            <p:ph type="title"/>
          </p:nvPr>
        </p:nvSpPr>
        <p:spPr/>
        <p:txBody>
          <a:bodyPr/>
          <a:lstStyle/>
          <a:p>
            <a:r>
              <a:rPr lang="en-US" dirty="0"/>
              <a:t>References</a:t>
            </a:r>
          </a:p>
        </p:txBody>
      </p:sp>
      <p:sp>
        <p:nvSpPr>
          <p:cNvPr id="14" name="Content Placeholder 13">
            <a:extLst>
              <a:ext uri="{FF2B5EF4-FFF2-40B4-BE49-F238E27FC236}">
                <a16:creationId xmlns:a16="http://schemas.microsoft.com/office/drawing/2014/main" id="{3B0BF3DC-18BB-E593-931C-FF20329D73FB}"/>
              </a:ext>
            </a:extLst>
          </p:cNvPr>
          <p:cNvSpPr>
            <a:spLocks noGrp="1"/>
          </p:cNvSpPr>
          <p:nvPr>
            <p:ph idx="1"/>
          </p:nvPr>
        </p:nvSpPr>
        <p:spPr/>
        <p:txBody>
          <a:bodyPr>
            <a:normAutofit fontScale="70000" lnSpcReduction="20000"/>
          </a:bodyPr>
          <a:lstStyle/>
          <a:p>
            <a:r>
              <a:rPr lang="en-US" dirty="0" err="1"/>
              <a:t>Grebić</a:t>
            </a:r>
            <a:r>
              <a:rPr lang="en-US" dirty="0"/>
              <a:t>, B., &amp; Stojanović, A. (2021). Application of the Scrum framework on projects in IT sector. </a:t>
            </a:r>
            <a:r>
              <a:rPr lang="en-US" i="1" dirty="0"/>
              <a:t>European Project Management Journal, 11</a:t>
            </a:r>
            <a:r>
              <a:rPr lang="en-US" dirty="0"/>
              <a:t>(2), 37–46. https://doi.org/10.18485/epmj.2021.11.2.4</a:t>
            </a:r>
          </a:p>
          <a:p>
            <a:r>
              <a:rPr lang="en-US" dirty="0"/>
              <a:t>Krishna, V. V., &amp; Gopinath, G. (2024). Software Development Life Cycle for Web Application by Using Traditional Methodology vs Agile Methodology. </a:t>
            </a:r>
            <a:r>
              <a:rPr lang="en-US" i="1" dirty="0"/>
              <a:t>2024 Ninth International Conference on Science Technology Engineering and Mathematics (ICONSTEM), Science Technology Engineering and Mathematics (ICONSTEM), 2024 Ninth International Conference On</a:t>
            </a:r>
            <a:r>
              <a:rPr lang="en-US" dirty="0"/>
              <a:t>, 1–6. https://doi.org/10.1109/ICONSTEM60960.2024.10568596</a:t>
            </a:r>
          </a:p>
          <a:p>
            <a:r>
              <a:rPr lang="en-US" dirty="0"/>
              <a:t>Mishra, A., &amp; Alzoubi, Y. I. (2023). Structured software development versus agile software development: A comparative analysis. </a:t>
            </a:r>
            <a:r>
              <a:rPr lang="en-US" i="1" dirty="0"/>
              <a:t>International Journal of System Assurance Engineering and Management, 14</a:t>
            </a:r>
            <a:r>
              <a:rPr lang="en-US" dirty="0"/>
              <a:t>(4), 1504-1522. https://doi.org/10.1007/s13198-023-01958-5</a:t>
            </a:r>
          </a:p>
          <a:p>
            <a:r>
              <a:rPr lang="en-US" dirty="0" err="1"/>
              <a:t>Najihi</a:t>
            </a:r>
            <a:r>
              <a:rPr lang="en-US" dirty="0"/>
              <a:t>, S., Elhadi, S., </a:t>
            </a:r>
            <a:r>
              <a:rPr lang="en-US" dirty="0" err="1"/>
              <a:t>Ait</a:t>
            </a:r>
            <a:r>
              <a:rPr lang="en-US" dirty="0"/>
              <a:t> Abdelouahid, R., &amp; </a:t>
            </a:r>
            <a:r>
              <a:rPr lang="en-US" dirty="0" err="1"/>
              <a:t>Marzak</a:t>
            </a:r>
            <a:r>
              <a:rPr lang="en-US" dirty="0"/>
              <a:t>, A. (2022). Software testing from an agile and traditional view. </a:t>
            </a:r>
            <a:r>
              <a:rPr lang="en-US" i="1" dirty="0"/>
              <a:t>Procedia Computer Science, 203</a:t>
            </a:r>
            <a:r>
              <a:rPr lang="en-US" dirty="0"/>
              <a:t>, 775–782. https://doi.org/10.1016/j.procs.2022.07.116</a:t>
            </a:r>
          </a:p>
          <a:p>
            <a:endParaRPr lang="en-US" dirty="0"/>
          </a:p>
          <a:p>
            <a:endParaRPr lang="en-US" dirty="0"/>
          </a:p>
        </p:txBody>
      </p:sp>
    </p:spTree>
    <p:extLst>
      <p:ext uri="{BB962C8B-B14F-4D97-AF65-F5344CB8AC3E}">
        <p14:creationId xmlns:p14="http://schemas.microsoft.com/office/powerpoint/2010/main" val="3577529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07AA8-D492-D84B-75C4-7AC8D2C942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0A44E8-FF25-67C3-155B-446B5148FF21}"/>
              </a:ext>
            </a:extLst>
          </p:cNvPr>
          <p:cNvSpPr>
            <a:spLocks noGrp="1"/>
          </p:cNvSpPr>
          <p:nvPr>
            <p:ph type="ctrTitle"/>
          </p:nvPr>
        </p:nvSpPr>
        <p:spPr/>
        <p:txBody>
          <a:bodyPr/>
          <a:lstStyle/>
          <a:p>
            <a:r>
              <a:rPr lang="en-US" dirty="0"/>
              <a:t>Thank you</a:t>
            </a:r>
          </a:p>
        </p:txBody>
      </p:sp>
      <p:sp>
        <p:nvSpPr>
          <p:cNvPr id="5" name="Subtitle 4">
            <a:extLst>
              <a:ext uri="{FF2B5EF4-FFF2-40B4-BE49-F238E27FC236}">
                <a16:creationId xmlns:a16="http://schemas.microsoft.com/office/drawing/2014/main" id="{CCF5097F-DC9D-B97A-4F1E-DB505F01C236}"/>
              </a:ext>
            </a:extLst>
          </p:cNvPr>
          <p:cNvSpPr>
            <a:spLocks noGrp="1"/>
          </p:cNvSpPr>
          <p:nvPr>
            <p:ph type="subTitle" idx="1"/>
          </p:nvPr>
        </p:nvSpPr>
        <p:spPr/>
        <p:txBody>
          <a:bodyPr/>
          <a:lstStyle/>
          <a:p>
            <a:r>
              <a:rPr lang="en-US" dirty="0"/>
              <a:t>Brian.duong@chadatech.com</a:t>
            </a:r>
          </a:p>
        </p:txBody>
      </p:sp>
    </p:spTree>
    <p:extLst>
      <p:ext uri="{BB962C8B-B14F-4D97-AF65-F5344CB8AC3E}">
        <p14:creationId xmlns:p14="http://schemas.microsoft.com/office/powerpoint/2010/main" val="535230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ech 16x9">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spDef>
      <a:spPr/>
      <a:bodyPr rtlCol="0" anchor="ctr"/>
      <a:lstStyle>
        <a:defPPr algn="ctr">
          <a:defRPr sz="2800"/>
        </a:defPPr>
      </a:lstStyle>
      <a:style>
        <a:lnRef idx="2">
          <a:schemeClr val="accent1">
            <a:shade val="50000"/>
          </a:schemeClr>
        </a:lnRef>
        <a:fillRef idx="1">
          <a:schemeClr val="accent1"/>
        </a:fillRef>
        <a:effectRef idx="0">
          <a:schemeClr val="accent1"/>
        </a:effectRef>
        <a:fontRef idx="minor">
          <a:schemeClr val="lt1"/>
        </a:fontRef>
      </a:style>
    </a:spDef>
    <a:lnDef>
      <a:spPr>
        <a:ln w="25400"/>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800"/>
        </a:defPPr>
      </a:lstStyle>
    </a:txDef>
  </a:objectDefaults>
  <a:extraClrSchemeLst/>
  <a:extLst>
    <a:ext uri="{05A4C25C-085E-4340-85A3-A5531E510DB2}">
      <thm15:themeFamily xmlns:thm15="http://schemas.microsoft.com/office/thememl/2012/main" name="TF02787990.potx" id="{BDB9CD5E-36EC-45F3-B87D-6D062B8A3823}" vid="{51682E2F-7C85-4D6F-AD40-072EFC83910D}"/>
    </a:ext>
  </a:extLst>
</a:theme>
</file>

<file path=ppt/theme/theme2.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ppt/theme/theme3.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ocPublishedLinkedAssetsLookup xmlns="4873beb7-5857-4685-be1f-d57550cc96cc" xsi:nil="true"/>
    <ApprovalStatus xmlns="4873beb7-5857-4685-be1f-d57550cc96cc">InProgress</ApprovalStatus>
    <MarketSpecific xmlns="4873beb7-5857-4685-be1f-d57550cc96cc">false</MarketSpecific>
    <LocComments xmlns="4873beb7-5857-4685-be1f-d57550cc96cc" xsi:nil="true"/>
    <LocLastLocAttemptVersionTypeLookup xmlns="4873beb7-5857-4685-be1f-d57550cc96cc" xsi:nil="true"/>
    <DirectSourceMarket xmlns="4873beb7-5857-4685-be1f-d57550cc96cc" xsi:nil="true"/>
    <ThumbnailAssetId xmlns="4873beb7-5857-4685-be1f-d57550cc96cc" xsi:nil="true"/>
    <PrimaryImageGen xmlns="4873beb7-5857-4685-be1f-d57550cc96cc">false</PrimaryImageGen>
    <LocNewPublishedVersionLookup xmlns="4873beb7-5857-4685-be1f-d57550cc96cc" xsi:nil="true"/>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LocOverallPublishStatusLookup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LocOverallLocStatusLookup xmlns="4873beb7-5857-4685-be1f-d57550cc96cc" xsi:nil="tru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1345093</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This simple template design works for technology and  businesses, but it's versatile enough to use in other contexts.  It features multiple slide layouts designed for widescreen (16x9 resolution) and includes a sample SmartArt list and chart that are easily editable.</APDescription>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2011-11-26T00:30:00+00:00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TemplateStatus xmlns="4873beb7-5857-4685-be1f-d57550cc96cc">Complete</TemplateStatus>
    <Downloads xmlns="4873beb7-5857-4685-be1f-d57550cc96cc">0</Downloads>
    <OOCacheId xmlns="4873beb7-5857-4685-be1f-d57550cc96cc" xsi:nil="true"/>
    <IsDeleted xmlns="4873beb7-5857-4685-be1f-d57550cc96cc">false</IsDeleted>
    <LocPublishedDependentAssetsLookup xmlns="4873beb7-5857-4685-be1f-d57550cc96cc" xsi:nil="true"/>
    <TPExecutable xmlns="4873beb7-5857-4685-be1f-d57550cc96cc" xsi:nil="true"/>
    <EditorialTags xmlns="4873beb7-5857-4685-be1f-d57550cc96cc" xsi:nil="true"/>
    <SubmitterId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TP102787989</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694266</LocLastLocAttemptVersionLookup>
    <LocProcessedForHandoffsLookup xmlns="4873beb7-5857-4685-be1f-d57550cc96cc" xsi:nil="true"/>
    <IsSearchable xmlns="4873beb7-5857-4685-be1f-d57550cc96cc">true</IsSearchable>
    <TemplateTemplateType xmlns="4873beb7-5857-4685-be1f-d57550cc96cc">PowerPoint Presentation Template</TemplateTemplateType>
    <CampaignTagsTaxHTField0 xmlns="4873beb7-5857-4685-be1f-d57550cc96cc">
      <Terms xmlns="http://schemas.microsoft.com/office/infopath/2007/PartnerControls"/>
    </CampaignTagsTaxHTField0>
    <TPNamespace xmlns="4873beb7-5857-4685-be1f-d57550cc96cc" xsi:nil="true"/>
    <LocOverallPreviewStatusLookup xmlns="4873beb7-5857-4685-be1f-d57550cc96cc" xsi:nil="true"/>
    <TaxCatchAll xmlns="4873beb7-5857-4685-be1f-d57550cc96cc"/>
    <Markets xmlns="4873beb7-5857-4685-be1f-d57550cc96cc"/>
    <UAProjectedTotalWords xmlns="4873beb7-5857-4685-be1f-d57550cc96cc" xsi:nil="true"/>
    <IntlLangReview xmlns="4873beb7-5857-4685-be1f-d57550cc96cc" xsi:nil="true"/>
    <OutputCachingOn xmlns="4873beb7-5857-4685-be1f-d57550cc96cc">false</OutputCachingOn>
    <AverageRating xmlns="4873beb7-5857-4685-be1f-d57550cc96cc" xsi:nil="true"/>
    <APAuthor xmlns="4873beb7-5857-4685-be1f-d57550cc96cc">
      <UserInfo>
        <DisplayName>REDMOND\kristaa</DisplayName>
        <AccountId>136</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LocProcessedForMarketsLookup xmlns="4873beb7-5857-4685-be1f-d57550cc96cc" xsi:nil="true"/>
    <TPLaunchHelpLinkType xmlns="4873beb7-5857-4685-be1f-d57550cc96cc">Template</TPLaunchHelpLinkType>
    <OriginalRelease xmlns="4873beb7-5857-4685-be1f-d57550cc96cc">15</OriginalRelease>
    <LocalizationTagsTaxHTField0 xmlns="4873beb7-5857-4685-be1f-d57550cc96cc">
      <Terms xmlns="http://schemas.microsoft.com/office/infopath/2007/PartnerControls"/>
    </LocalizationTagsTaxHTField0>
    <UACurrentWords xmlns="4873beb7-5857-4685-be1f-d57550cc96cc" xsi:nil="true"/>
    <ArtSampleDocs xmlns="4873beb7-5857-4685-be1f-d57550cc96cc" xsi:nil="true"/>
    <UALocRecommendation xmlns="4873beb7-5857-4685-be1f-d57550cc96cc">Localize</UALocRecommendation>
    <Manager xmlns="4873beb7-5857-4685-be1f-d57550cc96cc" xsi:nil="true"/>
    <LocOverallHandbackStatusLookup xmlns="4873beb7-5857-4685-be1f-d57550cc96cc" xsi:nil="true"/>
    <ShowIn xmlns="4873beb7-5857-4685-be1f-d57550cc96cc">Show everywhere</ShowIn>
    <UANotes xmlns="4873beb7-5857-4685-be1f-d57550cc96cc" xsi:nil="true"/>
    <InternalTagsTaxHTField0 xmlns="4873beb7-5857-4685-be1f-d57550cc96cc">
      <Terms xmlns="http://schemas.microsoft.com/office/infopath/2007/PartnerControls"/>
    </InternalTagsTaxHTField0>
    <CSXHash xmlns="4873beb7-5857-4685-be1f-d57550cc96cc" xsi:nil="true"/>
    <VoteCount xmlns="4873beb7-5857-4685-be1f-d57550cc96cc" xsi:nil="true"/>
    <AssetExpire xmlns="4873beb7-5857-4685-be1f-d57550cc96cc">2029-05-12T07:00:00+00:00</AssetExpire>
    <DSATActionTaken xmlns="4873beb7-5857-4685-be1f-d57550cc96cc" xsi:nil="true"/>
    <CSXSubmissionMarket xmlns="4873beb7-5857-4685-be1f-d57550cc96cc" xsi:nil="true"/>
    <LocMarketGroupTiers2 xmlns="4873beb7-5857-4685-be1f-d57550cc96c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60C67BEE-D13F-4BD2-98A5-34D8A0977F68}">
  <ds:schemaRefs>
    <ds:schemaRef ds:uri="4873beb7-5857-4685-be1f-d57550cc96cc"/>
    <ds:schemaRef ds:uri="http://schemas.openxmlformats.org/package/2006/metadata/core-properties"/>
    <ds:schemaRef ds:uri="http://purl.org/dc/terms/"/>
    <ds:schemaRef ds:uri="http://schemas.microsoft.com/office/2006/documentManagement/types"/>
    <ds:schemaRef ds:uri="http://purl.org/dc/elements/1.1/"/>
    <ds:schemaRef ds:uri="http://schemas.microsoft.com/office/2006/metadata/properties"/>
    <ds:schemaRef ds:uri="http://schemas.microsoft.com/office/infopath/2007/PartnerControls"/>
    <ds:schemaRef ds:uri="http://www.w3.org/XML/1998/namespace"/>
    <ds:schemaRef ds:uri="http://purl.org/dc/dcmitype/"/>
  </ds:schemaRefs>
</ds:datastoreItem>
</file>

<file path=customXml/itemProps2.xml><?xml version="1.0" encoding="utf-8"?>
<ds:datastoreItem xmlns:ds="http://schemas.openxmlformats.org/officeDocument/2006/customXml" ds:itemID="{A09BF4D4-EF60-4196-BFC3-9462D60797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836F65B-1B07-41EE-A0E8-BC6EF385522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Triple circuit lines presentation (widescreen)</Template>
  <TotalTime>123</TotalTime>
  <Words>2109</Words>
  <Application>Microsoft Office PowerPoint</Application>
  <PresentationFormat>Custom</PresentationFormat>
  <Paragraphs>109</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Tech 16x9</vt:lpstr>
      <vt:lpstr>Agile vs. Waterfall approaches</vt:lpstr>
      <vt:lpstr>Agenda</vt:lpstr>
      <vt:lpstr>Agile Roles</vt:lpstr>
      <vt:lpstr>Agile Roles</vt:lpstr>
      <vt:lpstr>Agile Roles</vt:lpstr>
      <vt:lpstr>Agile Roles</vt:lpstr>
      <vt:lpstr>Agile Roles</vt:lpstr>
      <vt:lpstr>Agile Phases</vt:lpstr>
      <vt:lpstr>Waterfall Model</vt:lpstr>
      <vt:lpstr>Waterfall vs. Agile</vt:lpstr>
      <vt:lpstr>Waterfall vs. Agile</vt:lpstr>
      <vt:lpstr>Waterfall vs. Agile - Discussion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Duong, Brian</dc:creator>
  <cp:lastModifiedBy>Duong, Brian</cp:lastModifiedBy>
  <cp:revision>32</cp:revision>
  <dcterms:created xsi:type="dcterms:W3CDTF">2026-10-15T13:43:15Z</dcterms:created>
  <dcterms:modified xsi:type="dcterms:W3CDTF">2026-10-17T13:37:08Z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